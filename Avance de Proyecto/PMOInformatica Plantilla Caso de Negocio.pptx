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258" r:id="rId6"/>
    <p:sldId id="259" r:id="rId7"/>
    <p:sldId id="260" r:id="rId8"/>
    <p:sldId id="266" r:id="rId9"/>
    <p:sldId id="261" r:id="rId10"/>
    <p:sldId id="262" r:id="rId11"/>
    <p:sldId id="263" r:id="rId12"/>
    <p:sldId id="267" r:id="rId13"/>
    <p:sldId id="264" r:id="rId14"/>
    <p:sldId id="265" r:id="rId15"/>
    <p:sldId id="269" r:id="rId16"/>
  </p:sldIdLst>
  <p:sldSz cx="9144000" cy="6858000" type="screen4x3"/>
  <p:notesSz cx="6858000" cy="9144000"/>
  <p:defaultTextStyle>
    <a:defPPr>
      <a:defRPr lang="es-V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87D698-FFE9-4EC2-B97D-1BCB75D5ED46}" v="964" dt="2025-10-03T16:47:57.1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3A358C15-5AF7-6CCB-0F67-324148DE2C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dirty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2FFC6675-B95B-FA7E-1ABA-2F8A86182DE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6AB2F4E-D454-40A1-93C0-0AF08F40E075}" type="datetimeFigureOut">
              <a:rPr lang="es-VE"/>
              <a:pPr>
                <a:defRPr/>
              </a:pPr>
              <a:t>4/10/2025</a:t>
            </a:fld>
            <a:endParaRPr lang="es-VE"/>
          </a:p>
        </p:txBody>
      </p:sp>
      <p:sp>
        <p:nvSpPr>
          <p:cNvPr id="4" name="3 Marcador de imagen de diapositiva">
            <a:extLst>
              <a:ext uri="{FF2B5EF4-FFF2-40B4-BE49-F238E27FC236}">
                <a16:creationId xmlns:a16="http://schemas.microsoft.com/office/drawing/2014/main" id="{24CFADCF-FB55-FB2B-92C7-23B8C892E6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VE" noProof="0"/>
          </a:p>
        </p:txBody>
      </p:sp>
      <p:sp>
        <p:nvSpPr>
          <p:cNvPr id="5" name="4 Marcador de notas">
            <a:extLst>
              <a:ext uri="{FF2B5EF4-FFF2-40B4-BE49-F238E27FC236}">
                <a16:creationId xmlns:a16="http://schemas.microsoft.com/office/drawing/2014/main" id="{308079D9-737B-C2B8-061A-27BD0EEB3A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VE" noProof="0"/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FEAABEC8-00C2-1516-E98C-58ADDAC3060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dirty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11828846-11F5-9AEC-5002-512B5E23ED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6854EB6-E17F-45F2-8BB9-334BEFDEA72C}" type="slidenum">
              <a:rPr lang="es-VE" altLang="es-MX"/>
              <a:pPr/>
              <a:t>‹Nº›</a:t>
            </a:fld>
            <a:endParaRPr lang="es-VE" alt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854EB6-E17F-45F2-8BB9-334BEFDEA72C}" type="slidenum">
              <a:rPr lang="es-VE" altLang="es-MX" smtClean="0"/>
              <a:pPr/>
              <a:t>9</a:t>
            </a:fld>
            <a:endParaRPr lang="es-VE" altLang="es-MX"/>
          </a:p>
        </p:txBody>
      </p:sp>
    </p:spTree>
    <p:extLst>
      <p:ext uri="{BB962C8B-B14F-4D97-AF65-F5344CB8AC3E}">
        <p14:creationId xmlns:p14="http://schemas.microsoft.com/office/powerpoint/2010/main" val="3981671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15C4DC8-4F39-5A88-ED24-FF06D6A297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243F60">
                <a:alpha val="50000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s-VE">
              <a:latin typeface="+mn-lt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C0E911F-2D51-6EB0-4D05-01DA83A73F8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2875" y="549275"/>
            <a:ext cx="35718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tabLst>
                <a:tab pos="2806700" algn="ctr"/>
                <a:tab pos="5611813" algn="r"/>
              </a:tabLst>
              <a:defRPr/>
            </a:pPr>
            <a:r>
              <a:rPr lang="es-VE" sz="1400" b="1">
                <a:solidFill>
                  <a:srgbClr val="0D0D0D"/>
                </a:solidFill>
                <a:ea typeface="Calibri" pitchFamily="34" charset="0"/>
                <a:cs typeface="Times New Roman" pitchFamily="18" charset="0"/>
              </a:rPr>
              <a:t>La Oficina de Proyectos de Informática</a:t>
            </a:r>
            <a:endParaRPr lang="es-V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729705-C9B6-D350-7120-1C108C7954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s-VE">
              <a:latin typeface="+mn-lt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B3779B-BBE7-9522-AF1E-4D1AACAA244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72250" y="581025"/>
            <a:ext cx="24288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>
              <a:tabLst>
                <a:tab pos="2806700" algn="ctr"/>
                <a:tab pos="5611813" algn="r"/>
              </a:tabLst>
              <a:defRPr/>
            </a:pPr>
            <a:r>
              <a:rPr lang="es-VE" sz="1200" b="1" i="1">
                <a:solidFill>
                  <a:srgbClr val="365F91"/>
                </a:solidFill>
                <a:ea typeface="Calibri" pitchFamily="34" charset="0"/>
                <a:cs typeface="Times New Roman" pitchFamily="18" charset="0"/>
              </a:rPr>
              <a:t>www.pmoinformatica.com</a:t>
            </a:r>
            <a:endParaRPr lang="es-VE"/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VE"/>
          </a:p>
        </p:txBody>
      </p:sp>
      <p:sp>
        <p:nvSpPr>
          <p:cNvPr id="8" name="3 Marcador de fecha">
            <a:extLst>
              <a:ext uri="{FF2B5EF4-FFF2-40B4-BE49-F238E27FC236}">
                <a16:creationId xmlns:a16="http://schemas.microsoft.com/office/drawing/2014/main" id="{BAD884A9-4029-5991-42D6-CE824651F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95F099-E80B-4931-A12C-5D73F468A8E5}" type="datetime1">
              <a:rPr lang="es-VE"/>
              <a:pPr>
                <a:defRPr/>
              </a:pPr>
              <a:t>4/10/2025</a:t>
            </a:fld>
            <a:endParaRPr lang="es-VE"/>
          </a:p>
        </p:txBody>
      </p:sp>
      <p:sp>
        <p:nvSpPr>
          <p:cNvPr id="9" name="4 Marcador de pie de página">
            <a:extLst>
              <a:ext uri="{FF2B5EF4-FFF2-40B4-BE49-F238E27FC236}">
                <a16:creationId xmlns:a16="http://schemas.microsoft.com/office/drawing/2014/main" id="{763B58DA-DB5F-9BDF-826F-0E983735C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10" name="5 Marcador de número de diapositiva">
            <a:extLst>
              <a:ext uri="{FF2B5EF4-FFF2-40B4-BE49-F238E27FC236}">
                <a16:creationId xmlns:a16="http://schemas.microsoft.com/office/drawing/2014/main" id="{610BF01F-AFD4-A1FA-C81F-79E5EBD6D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30EF19-01FF-499B-B28B-4E715F3B9673}" type="slidenum">
              <a:rPr lang="es-VE" altLang="es-MX"/>
              <a:pPr/>
              <a:t>‹Nº›</a:t>
            </a:fld>
            <a:endParaRPr lang="es-VE" altLang="es-MX"/>
          </a:p>
        </p:txBody>
      </p:sp>
    </p:spTree>
    <p:extLst>
      <p:ext uri="{BB962C8B-B14F-4D97-AF65-F5344CB8AC3E}">
        <p14:creationId xmlns:p14="http://schemas.microsoft.com/office/powerpoint/2010/main" val="752113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5F3DFF6-F2CF-203D-D1A3-1BC797D4FC9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243F60">
                <a:alpha val="50000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s-VE">
              <a:latin typeface="+mn-lt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48037DD-F81E-7F49-90B3-FFE168C0B0D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2875" y="549275"/>
            <a:ext cx="35718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tabLst>
                <a:tab pos="2806700" algn="ctr"/>
                <a:tab pos="5611813" algn="r"/>
              </a:tabLst>
              <a:defRPr/>
            </a:pPr>
            <a:r>
              <a:rPr lang="es-VE" sz="1400" b="1">
                <a:solidFill>
                  <a:srgbClr val="0D0D0D"/>
                </a:solidFill>
                <a:ea typeface="Calibri" pitchFamily="34" charset="0"/>
                <a:cs typeface="Times New Roman" pitchFamily="18" charset="0"/>
              </a:rPr>
              <a:t>La Oficina de Proyectos de Informática</a:t>
            </a:r>
            <a:endParaRPr lang="es-V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1EE0505-77CF-49DA-9F5D-E6DED723CC7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72250" y="581025"/>
            <a:ext cx="24288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>
              <a:tabLst>
                <a:tab pos="2806700" algn="ctr"/>
                <a:tab pos="5611813" algn="r"/>
              </a:tabLst>
              <a:defRPr/>
            </a:pPr>
            <a:r>
              <a:rPr lang="es-VE" sz="1200" b="1" i="1">
                <a:solidFill>
                  <a:srgbClr val="365F91"/>
                </a:solidFill>
                <a:ea typeface="Calibri" pitchFamily="34" charset="0"/>
                <a:cs typeface="Times New Roman" pitchFamily="18" charset="0"/>
              </a:rPr>
              <a:t>www.pmoinformatica.com</a:t>
            </a:r>
            <a:endParaRPr lang="es-VE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7" name="3 Marcador de fecha">
            <a:extLst>
              <a:ext uri="{FF2B5EF4-FFF2-40B4-BE49-F238E27FC236}">
                <a16:creationId xmlns:a16="http://schemas.microsoft.com/office/drawing/2014/main" id="{BF21A587-1ED8-26D1-D91B-496DF2CA8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64A34B-B527-4188-8107-D85F779BD459}" type="datetime1">
              <a:rPr lang="es-VE"/>
              <a:pPr>
                <a:defRPr/>
              </a:pPr>
              <a:t>4/10/2025</a:t>
            </a:fld>
            <a:endParaRPr lang="es-VE"/>
          </a:p>
        </p:txBody>
      </p:sp>
      <p:sp>
        <p:nvSpPr>
          <p:cNvPr id="8" name="4 Marcador de pie de página">
            <a:extLst>
              <a:ext uri="{FF2B5EF4-FFF2-40B4-BE49-F238E27FC236}">
                <a16:creationId xmlns:a16="http://schemas.microsoft.com/office/drawing/2014/main" id="{944EAF90-86FD-4A4C-36CD-00353A0AF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895873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905496FC-94C6-8AB1-E379-47B53D56B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9E1703-E2B2-4A36-A5C7-D4B4D2CEC4FE}" type="datetime1">
              <a:rPr lang="es-VE"/>
              <a:pPr>
                <a:defRPr/>
              </a:pPr>
              <a:t>4/10/2025</a:t>
            </a:fld>
            <a:endParaRPr lang="es-VE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4F6D5157-4D86-E894-E68A-1A0AD630F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720C3A1C-F344-D1DD-4C20-E91D24F11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202ABC-754E-4F94-A76C-6494003BF0A3}" type="slidenum">
              <a:rPr lang="es-VE" altLang="es-MX"/>
              <a:pPr/>
              <a:t>‹Nº›</a:t>
            </a:fld>
            <a:endParaRPr lang="es-VE" altLang="es-MX"/>
          </a:p>
        </p:txBody>
      </p:sp>
    </p:spTree>
    <p:extLst>
      <p:ext uri="{BB962C8B-B14F-4D97-AF65-F5344CB8AC3E}">
        <p14:creationId xmlns:p14="http://schemas.microsoft.com/office/powerpoint/2010/main" val="4255391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358C94BE-3C6F-B489-ADB4-DD9439846C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243F60">
                <a:alpha val="50000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s-VE">
              <a:latin typeface="+mn-lt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866A2E0-0CE4-81BE-A36A-4CB23A0440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2875" y="549275"/>
            <a:ext cx="35718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tabLst>
                <a:tab pos="2806700" algn="ctr"/>
                <a:tab pos="5611813" algn="r"/>
              </a:tabLst>
              <a:defRPr/>
            </a:pPr>
            <a:r>
              <a:rPr lang="es-VE" sz="1400" b="1">
                <a:solidFill>
                  <a:srgbClr val="0D0D0D"/>
                </a:solidFill>
                <a:ea typeface="Calibri" pitchFamily="34" charset="0"/>
                <a:cs typeface="Times New Roman" pitchFamily="18" charset="0"/>
              </a:rPr>
              <a:t>La Oficina de Proyectos de Informática</a:t>
            </a:r>
            <a:endParaRPr lang="es-V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422276-09B0-AFB5-E4DF-A7A78091DD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72250" y="581025"/>
            <a:ext cx="24288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>
              <a:tabLst>
                <a:tab pos="2806700" algn="ctr"/>
                <a:tab pos="5611813" algn="r"/>
              </a:tabLst>
              <a:defRPr/>
            </a:pPr>
            <a:r>
              <a:rPr lang="es-VE" sz="1200" b="1" i="1">
                <a:solidFill>
                  <a:srgbClr val="365F91"/>
                </a:solidFill>
                <a:ea typeface="Calibri" pitchFamily="34" charset="0"/>
                <a:cs typeface="Times New Roman" pitchFamily="18" charset="0"/>
              </a:rPr>
              <a:t>www.pmoinformatica.com</a:t>
            </a:r>
            <a:endParaRPr lang="es-VE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8" name="4 Marcador de fecha">
            <a:extLst>
              <a:ext uri="{FF2B5EF4-FFF2-40B4-BE49-F238E27FC236}">
                <a16:creationId xmlns:a16="http://schemas.microsoft.com/office/drawing/2014/main" id="{E7DE363F-8446-3CEA-2579-021AE6908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792A43-1467-474B-A1BA-374FB6052C7A}" type="datetime1">
              <a:rPr lang="es-VE"/>
              <a:pPr>
                <a:defRPr/>
              </a:pPr>
              <a:t>4/10/2025</a:t>
            </a:fld>
            <a:endParaRPr lang="es-VE"/>
          </a:p>
        </p:txBody>
      </p:sp>
      <p:sp>
        <p:nvSpPr>
          <p:cNvPr id="9" name="5 Marcador de pie de página">
            <a:extLst>
              <a:ext uri="{FF2B5EF4-FFF2-40B4-BE49-F238E27FC236}">
                <a16:creationId xmlns:a16="http://schemas.microsoft.com/office/drawing/2014/main" id="{E8E39FA8-9384-C278-CD32-8D84ABCC2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10" name="6 Marcador de número de diapositiva">
            <a:extLst>
              <a:ext uri="{FF2B5EF4-FFF2-40B4-BE49-F238E27FC236}">
                <a16:creationId xmlns:a16="http://schemas.microsoft.com/office/drawing/2014/main" id="{15939CE4-B50E-87BD-9CF5-DCFF3BAAF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C4D871-30F3-491D-881D-C7840EDED7B7}" type="slidenum">
              <a:rPr lang="es-VE" altLang="es-MX"/>
              <a:pPr/>
              <a:t>‹Nº›</a:t>
            </a:fld>
            <a:endParaRPr lang="es-VE" altLang="es-MX"/>
          </a:p>
        </p:txBody>
      </p:sp>
    </p:spTree>
    <p:extLst>
      <p:ext uri="{BB962C8B-B14F-4D97-AF65-F5344CB8AC3E}">
        <p14:creationId xmlns:p14="http://schemas.microsoft.com/office/powerpoint/2010/main" val="3013745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A5B518F8-5FBC-BA85-7A5D-7E8AB0CDDD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243F60">
                <a:alpha val="50000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s-VE">
              <a:latin typeface="+mn-lt"/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6A41BDB-914D-6190-7661-6F32A50D75F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2875" y="549275"/>
            <a:ext cx="35718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tabLst>
                <a:tab pos="2806700" algn="ctr"/>
                <a:tab pos="5611813" algn="r"/>
              </a:tabLst>
              <a:defRPr/>
            </a:pPr>
            <a:r>
              <a:rPr lang="es-VE" sz="1400" b="1">
                <a:solidFill>
                  <a:srgbClr val="0D0D0D"/>
                </a:solidFill>
                <a:ea typeface="Calibri" pitchFamily="34" charset="0"/>
                <a:cs typeface="Times New Roman" pitchFamily="18" charset="0"/>
              </a:rPr>
              <a:t>La Oficina de Proyectos de Informática</a:t>
            </a:r>
            <a:endParaRPr lang="es-VE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87501FE-9D3A-D0F9-0546-53D6445DB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72250" y="581025"/>
            <a:ext cx="24288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>
              <a:tabLst>
                <a:tab pos="2806700" algn="ctr"/>
                <a:tab pos="5611813" algn="r"/>
              </a:tabLst>
              <a:defRPr/>
            </a:pPr>
            <a:r>
              <a:rPr lang="es-VE" sz="1200" b="1" i="1">
                <a:solidFill>
                  <a:srgbClr val="365F91"/>
                </a:solidFill>
                <a:ea typeface="Calibri" pitchFamily="34" charset="0"/>
                <a:cs typeface="Times New Roman" pitchFamily="18" charset="0"/>
              </a:rPr>
              <a:t>www.pmoinformatica.com</a:t>
            </a:r>
            <a:endParaRPr lang="es-VE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10" name="6 Marcador de fecha">
            <a:extLst>
              <a:ext uri="{FF2B5EF4-FFF2-40B4-BE49-F238E27FC236}">
                <a16:creationId xmlns:a16="http://schemas.microsoft.com/office/drawing/2014/main" id="{E4A03C59-E14A-D161-57B4-BD5B994B1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73EAB3-CB53-4CBF-B4B8-1138694DAEC2}" type="datetime1">
              <a:rPr lang="es-VE"/>
              <a:pPr>
                <a:defRPr/>
              </a:pPr>
              <a:t>4/10/2025</a:t>
            </a:fld>
            <a:endParaRPr lang="es-VE"/>
          </a:p>
        </p:txBody>
      </p:sp>
      <p:sp>
        <p:nvSpPr>
          <p:cNvPr id="11" name="7 Marcador de pie de página">
            <a:extLst>
              <a:ext uri="{FF2B5EF4-FFF2-40B4-BE49-F238E27FC236}">
                <a16:creationId xmlns:a16="http://schemas.microsoft.com/office/drawing/2014/main" id="{E6F9D0CA-C1B1-36A6-3E95-A5EA7C6E6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12" name="8 Marcador de número de diapositiva">
            <a:extLst>
              <a:ext uri="{FF2B5EF4-FFF2-40B4-BE49-F238E27FC236}">
                <a16:creationId xmlns:a16="http://schemas.microsoft.com/office/drawing/2014/main" id="{38F85A46-BEDC-AEBD-4852-F61D8595C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7271FB-09C9-4311-8DC7-008F80027ED6}" type="slidenum">
              <a:rPr lang="es-VE" altLang="es-MX"/>
              <a:pPr/>
              <a:t>‹Nº›</a:t>
            </a:fld>
            <a:endParaRPr lang="es-VE" altLang="es-MX"/>
          </a:p>
        </p:txBody>
      </p:sp>
    </p:spTree>
    <p:extLst>
      <p:ext uri="{BB962C8B-B14F-4D97-AF65-F5344CB8AC3E}">
        <p14:creationId xmlns:p14="http://schemas.microsoft.com/office/powerpoint/2010/main" val="2340899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3 Marcador de fecha">
            <a:extLst>
              <a:ext uri="{FF2B5EF4-FFF2-40B4-BE49-F238E27FC236}">
                <a16:creationId xmlns:a16="http://schemas.microsoft.com/office/drawing/2014/main" id="{6B136CBE-BA58-23F3-7CF4-B676EA522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FE6E3F-751D-4205-9182-03689001368F}" type="datetime1">
              <a:rPr lang="es-VE"/>
              <a:pPr>
                <a:defRPr/>
              </a:pPr>
              <a:t>4/10/2025</a:t>
            </a:fld>
            <a:endParaRPr lang="es-VE"/>
          </a:p>
        </p:txBody>
      </p:sp>
      <p:sp>
        <p:nvSpPr>
          <p:cNvPr id="4" name="4 Marcador de pie de página">
            <a:extLst>
              <a:ext uri="{FF2B5EF4-FFF2-40B4-BE49-F238E27FC236}">
                <a16:creationId xmlns:a16="http://schemas.microsoft.com/office/drawing/2014/main" id="{29AC6391-D143-9EF9-1025-79B0DB1AB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E22E7C28-FF0E-1583-DF74-EED23CF13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B583FA-9CF8-4BA9-AED2-772E5FC0B320}" type="slidenum">
              <a:rPr lang="es-VE" altLang="es-MX"/>
              <a:pPr/>
              <a:t>‹Nº›</a:t>
            </a:fld>
            <a:endParaRPr lang="es-VE" altLang="es-MX"/>
          </a:p>
        </p:txBody>
      </p:sp>
    </p:spTree>
    <p:extLst>
      <p:ext uri="{BB962C8B-B14F-4D97-AF65-F5344CB8AC3E}">
        <p14:creationId xmlns:p14="http://schemas.microsoft.com/office/powerpoint/2010/main" val="123114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>
            <a:extLst>
              <a:ext uri="{FF2B5EF4-FFF2-40B4-BE49-F238E27FC236}">
                <a16:creationId xmlns:a16="http://schemas.microsoft.com/office/drawing/2014/main" id="{1858CF11-AC11-E1B0-FB4C-4C531AE8A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CB2371-692D-4F7A-A0BF-5B2440B2CC0B}" type="datetime1">
              <a:rPr lang="es-VE"/>
              <a:pPr>
                <a:defRPr/>
              </a:pPr>
              <a:t>4/10/2025</a:t>
            </a:fld>
            <a:endParaRPr lang="es-VE"/>
          </a:p>
        </p:txBody>
      </p:sp>
      <p:sp>
        <p:nvSpPr>
          <p:cNvPr id="3" name="4 Marcador de pie de página">
            <a:extLst>
              <a:ext uri="{FF2B5EF4-FFF2-40B4-BE49-F238E27FC236}">
                <a16:creationId xmlns:a16="http://schemas.microsoft.com/office/drawing/2014/main" id="{9310DDDB-E582-34A7-C9EC-FAEC15B60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4" name="5 Marcador de número de diapositiva">
            <a:extLst>
              <a:ext uri="{FF2B5EF4-FFF2-40B4-BE49-F238E27FC236}">
                <a16:creationId xmlns:a16="http://schemas.microsoft.com/office/drawing/2014/main" id="{6623451E-7138-5AC6-4B0C-46F488EAD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AD7DC5-F1F2-41F8-BE5D-397A55C95BF4}" type="slidenum">
              <a:rPr lang="es-VE" altLang="es-MX"/>
              <a:pPr/>
              <a:t>‹Nº›</a:t>
            </a:fld>
            <a:endParaRPr lang="es-VE" altLang="es-MX"/>
          </a:p>
        </p:txBody>
      </p:sp>
    </p:spTree>
    <p:extLst>
      <p:ext uri="{BB962C8B-B14F-4D97-AF65-F5344CB8AC3E}">
        <p14:creationId xmlns:p14="http://schemas.microsoft.com/office/powerpoint/2010/main" val="901540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>
            <a:extLst>
              <a:ext uri="{FF2B5EF4-FFF2-40B4-BE49-F238E27FC236}">
                <a16:creationId xmlns:a16="http://schemas.microsoft.com/office/drawing/2014/main" id="{BEC534D2-6D6E-E4E9-D626-C429D35D6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7B2BB-94F2-4AE9-99D5-3CF73AF3F2C8}" type="datetime1">
              <a:rPr lang="es-VE"/>
              <a:pPr>
                <a:defRPr/>
              </a:pPr>
              <a:t>4/10/2025</a:t>
            </a:fld>
            <a:endParaRPr lang="es-VE"/>
          </a:p>
        </p:txBody>
      </p:sp>
      <p:sp>
        <p:nvSpPr>
          <p:cNvPr id="6" name="4 Marcador de pie de página">
            <a:extLst>
              <a:ext uri="{FF2B5EF4-FFF2-40B4-BE49-F238E27FC236}">
                <a16:creationId xmlns:a16="http://schemas.microsoft.com/office/drawing/2014/main" id="{630F10D4-1672-DF49-D28F-F3E499565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7" name="5 Marcador de número de diapositiva">
            <a:extLst>
              <a:ext uri="{FF2B5EF4-FFF2-40B4-BE49-F238E27FC236}">
                <a16:creationId xmlns:a16="http://schemas.microsoft.com/office/drawing/2014/main" id="{A56A81A6-55E5-2239-ACD5-4CC5D8205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F0C6E6-C2FC-4240-A696-911F51F520AB}" type="slidenum">
              <a:rPr lang="es-VE" altLang="es-MX"/>
              <a:pPr/>
              <a:t>‹Nº›</a:t>
            </a:fld>
            <a:endParaRPr lang="es-VE" altLang="es-MX"/>
          </a:p>
        </p:txBody>
      </p:sp>
    </p:spTree>
    <p:extLst>
      <p:ext uri="{BB962C8B-B14F-4D97-AF65-F5344CB8AC3E}">
        <p14:creationId xmlns:p14="http://schemas.microsoft.com/office/powerpoint/2010/main" val="213598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VE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>
            <a:extLst>
              <a:ext uri="{FF2B5EF4-FFF2-40B4-BE49-F238E27FC236}">
                <a16:creationId xmlns:a16="http://schemas.microsoft.com/office/drawing/2014/main" id="{B427E53C-2F30-F0CA-F9AF-DA6AF03F3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5DBE3E-0DFA-4374-B492-DCFE05D3594A}" type="datetime1">
              <a:rPr lang="es-VE"/>
              <a:pPr>
                <a:defRPr/>
              </a:pPr>
              <a:t>4/10/2025</a:t>
            </a:fld>
            <a:endParaRPr lang="es-VE"/>
          </a:p>
        </p:txBody>
      </p:sp>
      <p:sp>
        <p:nvSpPr>
          <p:cNvPr id="6" name="4 Marcador de pie de página">
            <a:extLst>
              <a:ext uri="{FF2B5EF4-FFF2-40B4-BE49-F238E27FC236}">
                <a16:creationId xmlns:a16="http://schemas.microsoft.com/office/drawing/2014/main" id="{DD607B8A-2EC1-E84B-88E7-764A6FA9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7" name="5 Marcador de número de diapositiva">
            <a:extLst>
              <a:ext uri="{FF2B5EF4-FFF2-40B4-BE49-F238E27FC236}">
                <a16:creationId xmlns:a16="http://schemas.microsoft.com/office/drawing/2014/main" id="{C0B89FB2-D7F6-8401-A185-5528595F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25439C-60E9-4C54-ADFE-A5575153039B}" type="slidenum">
              <a:rPr lang="es-VE" altLang="es-MX"/>
              <a:pPr/>
              <a:t>‹Nº›</a:t>
            </a:fld>
            <a:endParaRPr lang="es-VE" altLang="es-MX"/>
          </a:p>
        </p:txBody>
      </p:sp>
    </p:spTree>
    <p:extLst>
      <p:ext uri="{BB962C8B-B14F-4D97-AF65-F5344CB8AC3E}">
        <p14:creationId xmlns:p14="http://schemas.microsoft.com/office/powerpoint/2010/main" val="807010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EB4A8A90-D68C-4400-E6AD-B3B28D58A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E169BD-6E16-47E4-930A-8846DAB9B09C}" type="datetime1">
              <a:rPr lang="es-VE"/>
              <a:pPr>
                <a:defRPr/>
              </a:pPr>
              <a:t>4/10/2025</a:t>
            </a:fld>
            <a:endParaRPr lang="es-VE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6951481A-016A-2747-3EA4-62B6D7928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0CFE3CB5-2402-E3F0-79AD-7ADB1A84E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9CE261-73FD-4427-9CEB-B82982E0BB7B}" type="slidenum">
              <a:rPr lang="es-VE" altLang="es-MX"/>
              <a:pPr/>
              <a:t>‹Nº›</a:t>
            </a:fld>
            <a:endParaRPr lang="es-VE" altLang="es-MX"/>
          </a:p>
        </p:txBody>
      </p:sp>
    </p:spTree>
    <p:extLst>
      <p:ext uri="{BB962C8B-B14F-4D97-AF65-F5344CB8AC3E}">
        <p14:creationId xmlns:p14="http://schemas.microsoft.com/office/powerpoint/2010/main" val="1516006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28820C54-D8C9-6129-6CC7-950E46B23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A3A183-984B-438A-A416-C964617B1823}" type="datetime1">
              <a:rPr lang="es-VE"/>
              <a:pPr>
                <a:defRPr/>
              </a:pPr>
              <a:t>4/10/2025</a:t>
            </a:fld>
            <a:endParaRPr lang="es-VE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A723EBBA-C6C4-AB8C-901A-65BF29172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B0CDAD22-C4FB-5217-4953-31326E85D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1BE53-394F-4D52-96BA-8227D66EC42E}" type="slidenum">
              <a:rPr lang="es-VE" altLang="es-MX"/>
              <a:pPr/>
              <a:t>‹Nº›</a:t>
            </a:fld>
            <a:endParaRPr lang="es-VE" altLang="es-MX"/>
          </a:p>
        </p:txBody>
      </p:sp>
    </p:spTree>
    <p:extLst>
      <p:ext uri="{BB962C8B-B14F-4D97-AF65-F5344CB8AC3E}">
        <p14:creationId xmlns:p14="http://schemas.microsoft.com/office/powerpoint/2010/main" val="464638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>
            <a:extLst>
              <a:ext uri="{FF2B5EF4-FFF2-40B4-BE49-F238E27FC236}">
                <a16:creationId xmlns:a16="http://schemas.microsoft.com/office/drawing/2014/main" id="{48EBCEB1-0CAF-A298-9FF4-D60FC67B349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MX"/>
              <a:t>Haga clic para modificar el estilo de título del patrón</a:t>
            </a:r>
            <a:endParaRPr lang="es-VE" altLang="es-MX"/>
          </a:p>
        </p:txBody>
      </p:sp>
      <p:sp>
        <p:nvSpPr>
          <p:cNvPr id="1027" name="2 Marcador de texto">
            <a:extLst>
              <a:ext uri="{FF2B5EF4-FFF2-40B4-BE49-F238E27FC236}">
                <a16:creationId xmlns:a16="http://schemas.microsoft.com/office/drawing/2014/main" id="{D3B8793F-2E81-6947-3FD8-B2B472560CC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MX"/>
              <a:t>Haga clic para modificar el estilo de texto del patrón</a:t>
            </a:r>
          </a:p>
          <a:p>
            <a:pPr lvl="1"/>
            <a:r>
              <a:rPr lang="es-ES" altLang="es-MX"/>
              <a:t>Segundo nivel</a:t>
            </a:r>
          </a:p>
          <a:p>
            <a:pPr lvl="2"/>
            <a:r>
              <a:rPr lang="es-ES" altLang="es-MX"/>
              <a:t>Tercer nivel</a:t>
            </a:r>
          </a:p>
          <a:p>
            <a:pPr lvl="3"/>
            <a:r>
              <a:rPr lang="es-ES" altLang="es-MX"/>
              <a:t>Cuarto nivel</a:t>
            </a:r>
          </a:p>
          <a:p>
            <a:pPr lvl="4"/>
            <a:r>
              <a:rPr lang="es-ES" altLang="es-MX"/>
              <a:t>Quinto nivel</a:t>
            </a:r>
            <a:endParaRPr lang="es-VE" altLang="es-MX"/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34831EAE-48B4-448D-5179-DBCB7680C1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5191792-39F8-4F3B-B516-D06F7799A6D0}" type="datetime1">
              <a:rPr lang="es-VE"/>
              <a:pPr>
                <a:defRPr/>
              </a:pPr>
              <a:t>4/10/2025</a:t>
            </a:fld>
            <a:endParaRPr lang="es-VE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91C29C18-D334-DF5C-1898-A956B328E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C81566CA-C4A5-4A0B-7231-01ECF47F02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3AEB6EA1-C3BD-4F11-B158-02FC88AD9C83}" type="slidenum">
              <a:rPr lang="es-VE" altLang="es-MX"/>
              <a:pPr/>
              <a:t>‹Nº›</a:t>
            </a:fld>
            <a:endParaRPr lang="es-VE" alt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694" r:id="rId3"/>
    <p:sldLayoutId id="2147483703" r:id="rId4"/>
    <p:sldLayoutId id="214748370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1 Título">
            <a:extLst>
              <a:ext uri="{FF2B5EF4-FFF2-40B4-BE49-F238E27FC236}">
                <a16:creationId xmlns:a16="http://schemas.microsoft.com/office/drawing/2014/main" id="{1864FD77-4512-84F3-E087-5813D2E477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VE" b="1"/>
              <a:t>Caso de Negocio</a:t>
            </a:r>
            <a:br>
              <a:rPr lang="es-VE" b="1"/>
            </a:br>
            <a:r>
              <a:rPr lang="es-VE" sz="2400" b="1">
                <a:solidFill>
                  <a:srgbClr val="00B05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MX" sz="2400" b="1">
                <a:solidFill>
                  <a:srgbClr val="00B050"/>
                </a:solidFill>
                <a:latin typeface="+mn-lt"/>
                <a:ea typeface="+mn-ea"/>
                <a:cs typeface="+mn-cs"/>
              </a:rPr>
              <a:t>Guías y videos de apoyo para el uso de plataformas escolares de la </a:t>
            </a:r>
            <a:r>
              <a:rPr lang="es-MX" sz="2400" b="1" err="1">
                <a:solidFill>
                  <a:srgbClr val="00B050"/>
                </a:solidFill>
                <a:latin typeface="+mn-lt"/>
                <a:ea typeface="+mn-ea"/>
                <a:cs typeface="+mn-cs"/>
              </a:rPr>
              <a:t>UAEMéx</a:t>
            </a:r>
            <a:endParaRPr lang="es-VE" sz="2400" b="1">
              <a:solidFill>
                <a:srgbClr val="00B05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3A3F0FDE-268E-1C0D-F91F-EDB52587D2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0188" y="3786188"/>
            <a:ext cx="6400800" cy="1500187"/>
          </a:xfrm>
        </p:spPr>
        <p:txBody>
          <a:bodyPr rtlCol="0">
            <a:normAutofit fontScale="70000" lnSpcReduction="2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VE" sz="2800" b="1"/>
              <a:t>Organización: </a:t>
            </a:r>
            <a:r>
              <a:rPr lang="es-VE" sz="2800" b="1">
                <a:solidFill>
                  <a:srgbClr val="00B050"/>
                </a:solidFill>
              </a:rPr>
              <a:t>Universidad Autónoma del Estado de México </a:t>
            </a:r>
            <a:r>
              <a:rPr lang="es-VE" sz="2800" b="1" err="1">
                <a:solidFill>
                  <a:srgbClr val="00B050"/>
                </a:solidFill>
              </a:rPr>
              <a:t>UAEMéx</a:t>
            </a:r>
            <a:endParaRPr lang="es-VE" sz="2800" b="1"/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s-VE" sz="2800" b="1"/>
              <a:t>Fecha:</a:t>
            </a:r>
            <a:r>
              <a:rPr lang="es-VE" sz="2800"/>
              <a:t> </a:t>
            </a:r>
            <a:r>
              <a:rPr lang="es-VE" sz="2800" b="1">
                <a:solidFill>
                  <a:srgbClr val="00B050"/>
                </a:solidFill>
              </a:rPr>
              <a:t>03/10/2025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s-VE" sz="2800" b="1"/>
              <a:t>Cliente: </a:t>
            </a:r>
            <a:r>
              <a:rPr lang="es-VE" sz="2800" b="1">
                <a:solidFill>
                  <a:srgbClr val="00B050"/>
                </a:solidFill>
              </a:rPr>
              <a:t>Estudiantes de la </a:t>
            </a:r>
            <a:r>
              <a:rPr lang="es-VE" sz="2800" b="1" err="1">
                <a:solidFill>
                  <a:srgbClr val="00B050"/>
                </a:solidFill>
              </a:rPr>
              <a:t>UAEMéx</a:t>
            </a:r>
            <a:endParaRPr lang="es-VE" sz="2800" b="1">
              <a:solidFill>
                <a:srgbClr val="00B050"/>
              </a:solidFill>
            </a:endParaRP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s-VE" sz="2800" b="1"/>
              <a:t>Patrocinador: </a:t>
            </a:r>
            <a:r>
              <a:rPr lang="es-VE" sz="2800" b="1">
                <a:solidFill>
                  <a:srgbClr val="00B050"/>
                </a:solidFill>
              </a:rPr>
              <a:t>Prof. </a:t>
            </a:r>
            <a:r>
              <a:rPr lang="es-VE" sz="2800" b="1" err="1">
                <a:solidFill>
                  <a:srgbClr val="00B050"/>
                </a:solidFill>
              </a:rPr>
              <a:t>Hazem</a:t>
            </a:r>
            <a:r>
              <a:rPr lang="es-VE" sz="2800" b="1">
                <a:solidFill>
                  <a:srgbClr val="00B050"/>
                </a:solidFill>
              </a:rPr>
              <a:t> Álvarez Rodríguez</a:t>
            </a:r>
            <a:endParaRPr lang="es-VE" sz="2800" b="1"/>
          </a:p>
          <a:p>
            <a:pPr algn="l" eaLnBrk="1" fontAlgn="auto" hangingPunct="1">
              <a:spcAft>
                <a:spcPts val="0"/>
              </a:spcAft>
              <a:defRPr/>
            </a:pPr>
            <a:endParaRPr lang="es-VE" sz="2800" b="1"/>
          </a:p>
          <a:p>
            <a:pPr algn="l" eaLnBrk="1" fontAlgn="auto" hangingPunct="1">
              <a:spcAft>
                <a:spcPts val="0"/>
              </a:spcAft>
              <a:defRPr/>
            </a:pPr>
            <a:endParaRPr lang="es-VE" sz="2800" b="1">
              <a:solidFill>
                <a:srgbClr val="00B050"/>
              </a:solidFill>
            </a:endParaRPr>
          </a:p>
        </p:txBody>
      </p:sp>
      <p:sp>
        <p:nvSpPr>
          <p:cNvPr id="4" name="3 Marcador de número de diapositiva">
            <a:extLst>
              <a:ext uri="{FF2B5EF4-FFF2-40B4-BE49-F238E27FC236}">
                <a16:creationId xmlns:a16="http://schemas.microsoft.com/office/drawing/2014/main" id="{733089E9-3819-6E40-FAB9-BF1F177DB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DC87A76-960A-4BCC-8009-A352BADBEF33}" type="slidenum">
              <a:rPr lang="es-VE" altLang="es-MX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</a:t>
            </a:fld>
            <a:endParaRPr lang="es-VE" altLang="es-MX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 Título">
            <a:extLst>
              <a:ext uri="{FF2B5EF4-FFF2-40B4-BE49-F238E27FC236}">
                <a16:creationId xmlns:a16="http://schemas.microsoft.com/office/drawing/2014/main" id="{8CC99B05-9338-8165-D3BB-E1C4AF16041B}"/>
              </a:ext>
            </a:extLst>
          </p:cNvPr>
          <p:cNvSpPr txBox="1">
            <a:spLocks/>
          </p:cNvSpPr>
          <p:nvPr/>
        </p:nvSpPr>
        <p:spPr>
          <a:xfrm>
            <a:off x="600075" y="1357313"/>
            <a:ext cx="7772400" cy="35718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s-VE" sz="2800" b="1">
                <a:latin typeface="+mj-lt"/>
                <a:ea typeface="+mj-ea"/>
                <a:cs typeface="+mj-cs"/>
              </a:rPr>
              <a:t>Agenda</a:t>
            </a:r>
          </a:p>
        </p:txBody>
      </p:sp>
      <p:sp>
        <p:nvSpPr>
          <p:cNvPr id="7171" name="7 Marcador de contenido">
            <a:extLst>
              <a:ext uri="{FF2B5EF4-FFF2-40B4-BE49-F238E27FC236}">
                <a16:creationId xmlns:a16="http://schemas.microsoft.com/office/drawing/2014/main" id="{F6D9DB8E-8190-7C06-93D9-D737751703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0075" y="1928813"/>
            <a:ext cx="8258175" cy="3714750"/>
          </a:xfrm>
        </p:spPr>
        <p:txBody>
          <a:bodyPr/>
          <a:lstStyle/>
          <a:p>
            <a:pPr eaLnBrk="1" hangingPunct="1"/>
            <a:r>
              <a:rPr lang="es-VE" altLang="es-MX" sz="2400"/>
              <a:t>Resumen Ejecutivo</a:t>
            </a:r>
          </a:p>
          <a:p>
            <a:pPr eaLnBrk="1" hangingPunct="1"/>
            <a:r>
              <a:rPr lang="es-VE" altLang="es-MX" sz="2400"/>
              <a:t>Definición del problema</a:t>
            </a:r>
          </a:p>
          <a:p>
            <a:pPr eaLnBrk="1" hangingPunct="1"/>
            <a:r>
              <a:rPr lang="es-VE" altLang="es-MX" sz="2400"/>
              <a:t>Visión General del Proyecto</a:t>
            </a:r>
          </a:p>
          <a:p>
            <a:pPr eaLnBrk="1" hangingPunct="1"/>
            <a:r>
              <a:rPr lang="es-VE" altLang="es-MX" sz="2400"/>
              <a:t>Alineación del proyecto con los objetivos estratégicos</a:t>
            </a:r>
          </a:p>
          <a:p>
            <a:pPr eaLnBrk="1" hangingPunct="1"/>
            <a:r>
              <a:rPr lang="es-VE" altLang="es-MX" sz="2400"/>
              <a:t>Análisis Costo Beneficio</a:t>
            </a:r>
          </a:p>
          <a:p>
            <a:pPr eaLnBrk="1" hangingPunct="1"/>
            <a:r>
              <a:rPr lang="es-VE" altLang="es-MX" sz="2400"/>
              <a:t>Análisis de Alternativas</a:t>
            </a:r>
          </a:p>
          <a:p>
            <a:pPr eaLnBrk="1" hangingPunct="1"/>
            <a:r>
              <a:rPr lang="es-VE" altLang="es-MX" sz="2400"/>
              <a:t>Aprobaciones</a:t>
            </a:r>
          </a:p>
        </p:txBody>
      </p:sp>
      <p:sp>
        <p:nvSpPr>
          <p:cNvPr id="13" name="12 Marcador de número de diapositiva">
            <a:extLst>
              <a:ext uri="{FF2B5EF4-FFF2-40B4-BE49-F238E27FC236}">
                <a16:creationId xmlns:a16="http://schemas.microsoft.com/office/drawing/2014/main" id="{C6FA01FB-642F-57C1-0C0E-1092DDF94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C023FC3-FC67-42F8-81A3-37C6A7A2D2F2}" type="slidenum">
              <a:rPr lang="es-VE" altLang="es-MX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</a:t>
            </a:fld>
            <a:endParaRPr lang="es-VE" altLang="es-MX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 Título">
            <a:extLst>
              <a:ext uri="{FF2B5EF4-FFF2-40B4-BE49-F238E27FC236}">
                <a16:creationId xmlns:a16="http://schemas.microsoft.com/office/drawing/2014/main" id="{A5393856-6104-700C-FAC8-C9828522D042}"/>
              </a:ext>
            </a:extLst>
          </p:cNvPr>
          <p:cNvSpPr txBox="1">
            <a:spLocks/>
          </p:cNvSpPr>
          <p:nvPr/>
        </p:nvSpPr>
        <p:spPr>
          <a:xfrm>
            <a:off x="500063" y="1357313"/>
            <a:ext cx="7772400" cy="35718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s-VE" sz="2800" b="1">
                <a:latin typeface="+mj-lt"/>
                <a:ea typeface="+mj-ea"/>
                <a:cs typeface="+mj-cs"/>
              </a:rPr>
              <a:t>Resumen Ejecutivo</a:t>
            </a:r>
          </a:p>
        </p:txBody>
      </p:sp>
      <p:sp>
        <p:nvSpPr>
          <p:cNvPr id="8195" name="7 Marcador de contenido">
            <a:extLst>
              <a:ext uri="{FF2B5EF4-FFF2-40B4-BE49-F238E27FC236}">
                <a16:creationId xmlns:a16="http://schemas.microsoft.com/office/drawing/2014/main" id="{5214A5D7-FBB0-BED0-694F-1E5D453F29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0063" y="1834737"/>
            <a:ext cx="8258175" cy="4427537"/>
          </a:xfrm>
        </p:spPr>
        <p:txBody>
          <a:bodyPr/>
          <a:lstStyle/>
          <a:p>
            <a:pPr marL="0" indent="0" algn="just">
              <a:buNone/>
            </a:pPr>
            <a:r>
              <a:rPr lang="es-ES" sz="1600" b="1" i="1"/>
              <a:t>Problema</a:t>
            </a:r>
            <a:r>
              <a:rPr lang="es-ES" sz="1600"/>
              <a:t>: Estudiantes desconocen el correcto funcionamiento de las plataformas escolares lo cual genera errores en trámites, rezago académico y pérdida de tiempo</a:t>
            </a:r>
          </a:p>
          <a:p>
            <a:pPr marL="0" indent="0" algn="just">
              <a:buNone/>
            </a:pPr>
            <a:endParaRPr lang="es-ES" sz="1600"/>
          </a:p>
          <a:p>
            <a:pPr marL="0" indent="0" algn="just">
              <a:buNone/>
            </a:pPr>
            <a:r>
              <a:rPr lang="es-ES" sz="1600" b="1" i="1"/>
              <a:t>Solución</a:t>
            </a:r>
            <a:r>
              <a:rPr lang="es-ES" sz="1600"/>
              <a:t>: </a:t>
            </a:r>
            <a:r>
              <a:rPr lang="es-MX" sz="1600"/>
              <a:t>Creación de guías en PDF y videos cortos explicativos, complementados con códigos QR distribuidos en aulas y oficinas, para que los estudiantes accedan rápidamente a la información necesaria.</a:t>
            </a:r>
          </a:p>
          <a:p>
            <a:pPr marL="0" indent="0" algn="just">
              <a:buNone/>
            </a:pPr>
            <a:endParaRPr lang="es-MX" sz="1600"/>
          </a:p>
          <a:p>
            <a:pPr marL="0" indent="0" algn="just">
              <a:buNone/>
            </a:pPr>
            <a:r>
              <a:rPr lang="es-ES" sz="1600" b="1" i="1"/>
              <a:t>Beneficios</a:t>
            </a:r>
            <a:r>
              <a:rPr lang="es-ES" sz="1600"/>
              <a:t>: </a:t>
            </a:r>
            <a:r>
              <a:rPr lang="es-MX" sz="1600"/>
              <a:t>El proyecto permitirá mejorar la experiencia de los estudiantes en procesos académicos digitales mediante materiales claros y accesibles. Los beneficios se medirán con:</a:t>
            </a:r>
          </a:p>
          <a:p>
            <a:pPr algn="just"/>
            <a:r>
              <a:rPr lang="es-MX" sz="1600"/>
              <a:t>Reducción de errores en trámites digitales en un 30%.</a:t>
            </a:r>
          </a:p>
          <a:p>
            <a:pPr algn="just"/>
            <a:r>
              <a:rPr lang="es-MX" sz="1600"/>
              <a:t>Incremento en la comprensión del uso de plataformas en un 80% de los estudiantes encuestados.</a:t>
            </a:r>
          </a:p>
          <a:p>
            <a:pPr algn="just"/>
            <a:r>
              <a:rPr lang="es-MX" sz="1600"/>
              <a:t>Reducción de consultas administrativas relacionadas con el uso de plataformas en un 25%.</a:t>
            </a:r>
          </a:p>
          <a:p>
            <a:pPr marL="0" indent="0" algn="just">
              <a:buNone/>
            </a:pPr>
            <a:endParaRPr lang="es-MX" sz="1600"/>
          </a:p>
          <a:p>
            <a:pPr marL="0" indent="0" algn="just">
              <a:buNone/>
            </a:pPr>
            <a:r>
              <a:rPr lang="es-ES" sz="1600" b="1" i="1"/>
              <a:t>Justificación</a:t>
            </a:r>
            <a:r>
              <a:rPr lang="es-ES" sz="1600"/>
              <a:t>: </a:t>
            </a:r>
            <a:r>
              <a:rPr lang="es-MX" sz="1600"/>
              <a:t>Se seleccionó esta solución porque no requiere cambios costosos en software ni personal, solo materiales de apoyo accesibles para toda la comunidad. Otras alternativas, como capacitaciones, resultan más costosas y menos escalables.</a:t>
            </a:r>
          </a:p>
          <a:p>
            <a:pPr eaLnBrk="1" hangingPunct="1"/>
            <a:endParaRPr lang="es-VE" altLang="es-MX" sz="1800">
              <a:solidFill>
                <a:srgbClr val="00B050"/>
              </a:solidFill>
            </a:endParaRPr>
          </a:p>
        </p:txBody>
      </p:sp>
      <p:sp>
        <p:nvSpPr>
          <p:cNvPr id="4" name="3 Marcador de número de diapositiva">
            <a:extLst>
              <a:ext uri="{FF2B5EF4-FFF2-40B4-BE49-F238E27FC236}">
                <a16:creationId xmlns:a16="http://schemas.microsoft.com/office/drawing/2014/main" id="{2D7C8E27-2DD1-C61E-4BA8-39918C2B7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1F0AEA0-5742-4BEC-87CD-146A950D71F3}" type="slidenum">
              <a:rPr lang="es-VE" altLang="es-MX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</a:t>
            </a:fld>
            <a:endParaRPr lang="es-VE" altLang="es-MX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 Título">
            <a:extLst>
              <a:ext uri="{FF2B5EF4-FFF2-40B4-BE49-F238E27FC236}">
                <a16:creationId xmlns:a16="http://schemas.microsoft.com/office/drawing/2014/main" id="{EFCFCD36-C47B-DEF2-47DB-58EDF82434DC}"/>
              </a:ext>
            </a:extLst>
          </p:cNvPr>
          <p:cNvSpPr txBox="1">
            <a:spLocks/>
          </p:cNvSpPr>
          <p:nvPr/>
        </p:nvSpPr>
        <p:spPr>
          <a:xfrm>
            <a:off x="500063" y="1357313"/>
            <a:ext cx="7772400" cy="35718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s-VE" sz="2800" b="1">
                <a:latin typeface="+mj-lt"/>
                <a:ea typeface="+mj-ea"/>
                <a:cs typeface="+mj-cs"/>
              </a:rPr>
              <a:t>Descripción del Problema</a:t>
            </a:r>
          </a:p>
        </p:txBody>
      </p:sp>
      <p:sp>
        <p:nvSpPr>
          <p:cNvPr id="9219" name="7 Marcador de contenido">
            <a:extLst>
              <a:ext uri="{FF2B5EF4-FFF2-40B4-BE49-F238E27FC236}">
                <a16:creationId xmlns:a16="http://schemas.microsoft.com/office/drawing/2014/main" id="{2789C32B-1482-A3E9-F6F9-C8F01A3976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0063" y="1988840"/>
            <a:ext cx="8258175" cy="3804444"/>
          </a:xfrm>
        </p:spPr>
        <p:txBody>
          <a:bodyPr/>
          <a:lstStyle/>
          <a:p>
            <a:pPr marL="0" indent="0" algn="just">
              <a:buNone/>
            </a:pPr>
            <a:r>
              <a:rPr lang="es-MX" sz="1800"/>
              <a:t>Actualmente, existe una brecha de conocimiento entre los estudiantes y el uso de las plataformas escolares. Los problemas principales son:</a:t>
            </a:r>
          </a:p>
          <a:p>
            <a:pPr algn="just"/>
            <a:r>
              <a:rPr lang="es-MX" sz="1800" b="1" i="1"/>
              <a:t>Tecnología</a:t>
            </a:r>
            <a:r>
              <a:rPr lang="es-MX" sz="1800"/>
              <a:t>: desconocimiento de herramientas como Microsoft </a:t>
            </a:r>
            <a:r>
              <a:rPr lang="es-MX" sz="1800" err="1"/>
              <a:t>Teams</a:t>
            </a:r>
            <a:r>
              <a:rPr lang="es-MX" sz="1800"/>
              <a:t>, la plataforma de control escolar y la pagina de becas.</a:t>
            </a:r>
          </a:p>
          <a:p>
            <a:pPr algn="just"/>
            <a:r>
              <a:rPr lang="es-MX" sz="1800" b="1" i="1"/>
              <a:t>Procesos</a:t>
            </a:r>
            <a:r>
              <a:rPr lang="es-MX" sz="1800"/>
              <a:t>: confusión en trámites digitales (inscripciones, bajas, registro de becas).</a:t>
            </a:r>
          </a:p>
          <a:p>
            <a:pPr algn="just"/>
            <a:r>
              <a:rPr lang="es-MX" sz="1800" b="1" i="1"/>
              <a:t>Habilidades del personal</a:t>
            </a:r>
            <a:r>
              <a:rPr lang="es-MX" sz="1800"/>
              <a:t>: estudiantes con poca autonomía digital, que dependen demasiado de personal administrativo o compañeros avanzados.</a:t>
            </a:r>
          </a:p>
          <a:p>
            <a:pPr algn="just"/>
            <a:endParaRPr lang="es-MX" sz="1800"/>
          </a:p>
          <a:p>
            <a:pPr marL="0" indent="0" algn="just">
              <a:buNone/>
            </a:pPr>
            <a:r>
              <a:rPr lang="es-MX" sz="1800" b="1" i="1"/>
              <a:t>Impacto esperado en la organización:</a:t>
            </a:r>
          </a:p>
          <a:p>
            <a:pPr marL="0" indent="0" algn="just">
              <a:buNone/>
            </a:pPr>
            <a:r>
              <a:rPr lang="es-MX" sz="1800"/>
              <a:t>El proyecto reducirá la carga de trabajo de servicios escolares y docentes al resolver dudas recurrentes, permitirá mayor eficiencia en procesos académicos digitales y mejorará la imagen institucional al mostrar materiales de apoyo modernos, accesibles e inclusivos.</a:t>
            </a:r>
          </a:p>
          <a:p>
            <a:pPr marL="0" indent="0" eaLnBrk="1" hangingPunct="1">
              <a:buNone/>
            </a:pPr>
            <a:endParaRPr lang="es-VE" altLang="es-MX" sz="1800">
              <a:solidFill>
                <a:srgbClr val="00B050"/>
              </a:solidFill>
            </a:endParaRPr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45994D9C-95CD-4D47-9E8F-DA0B4756B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985B72E-AEAD-409B-9787-A120883C787E}" type="slidenum">
              <a:rPr lang="es-VE" altLang="es-MX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4</a:t>
            </a:fld>
            <a:endParaRPr lang="es-VE" altLang="es-MX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 Título">
            <a:extLst>
              <a:ext uri="{FF2B5EF4-FFF2-40B4-BE49-F238E27FC236}">
                <a16:creationId xmlns:a16="http://schemas.microsoft.com/office/drawing/2014/main" id="{BC6395CA-E704-2431-A654-116CA11B1014}"/>
              </a:ext>
            </a:extLst>
          </p:cNvPr>
          <p:cNvSpPr txBox="1">
            <a:spLocks/>
          </p:cNvSpPr>
          <p:nvPr/>
        </p:nvSpPr>
        <p:spPr>
          <a:xfrm>
            <a:off x="457200" y="1357313"/>
            <a:ext cx="7772400" cy="35718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s-VE" sz="2800" b="1">
                <a:latin typeface="+mj-lt"/>
                <a:ea typeface="+mj-ea"/>
                <a:cs typeface="+mj-cs"/>
              </a:rPr>
              <a:t>Visión General del Proyecto</a:t>
            </a:r>
          </a:p>
        </p:txBody>
      </p:sp>
      <p:sp>
        <p:nvSpPr>
          <p:cNvPr id="10243" name="7 Marcador de contenido">
            <a:extLst>
              <a:ext uri="{FF2B5EF4-FFF2-40B4-BE49-F238E27FC236}">
                <a16:creationId xmlns:a16="http://schemas.microsoft.com/office/drawing/2014/main" id="{C891F39A-821D-25F3-7C70-4BF82D5E8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143125"/>
            <a:ext cx="8258175" cy="990112"/>
          </a:xfrm>
        </p:spPr>
        <p:txBody>
          <a:bodyPr/>
          <a:lstStyle/>
          <a:p>
            <a:pPr algn="just" eaLnBrk="1" hangingPunct="1">
              <a:buNone/>
            </a:pPr>
            <a:r>
              <a:rPr lang="es-MX" sz="1600"/>
              <a:t>El proyecto consiste en diseñar, elaborar y distribuir materiales de apoyo digital (guías PDF y videos cortos), con acceso mediante QR, que permitan a los estudiantes comprender de manera rápida los procesos clave de las plataformas escolares.</a:t>
            </a:r>
            <a:endParaRPr lang="es-VE" altLang="es-MX" sz="1600">
              <a:solidFill>
                <a:srgbClr val="00B050"/>
              </a:solidFill>
            </a:endParaRPr>
          </a:p>
          <a:p>
            <a:pPr eaLnBrk="1" hangingPunct="1"/>
            <a:endParaRPr lang="es-VE" altLang="es-MX" sz="1800">
              <a:solidFill>
                <a:srgbClr val="00B050"/>
              </a:solidFill>
            </a:endParaRPr>
          </a:p>
          <a:p>
            <a:pPr eaLnBrk="1" hangingPunct="1"/>
            <a:endParaRPr lang="es-VE" altLang="es-MX" sz="2000" b="1">
              <a:latin typeface="+mj-lt"/>
              <a:ea typeface="+mj-ea"/>
              <a:cs typeface="+mj-cs"/>
            </a:endParaRP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87ED37F0-EBD7-A85F-027D-76F31CFB2C26}"/>
              </a:ext>
            </a:extLst>
          </p:cNvPr>
          <p:cNvSpPr txBox="1">
            <a:spLocks/>
          </p:cNvSpPr>
          <p:nvPr/>
        </p:nvSpPr>
        <p:spPr>
          <a:xfrm>
            <a:off x="428625" y="1785938"/>
            <a:ext cx="7772400" cy="35718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s-VE" sz="2000" b="1">
                <a:latin typeface="+mj-lt"/>
                <a:ea typeface="+mj-ea"/>
                <a:cs typeface="+mj-cs"/>
              </a:rPr>
              <a:t>Descripción</a:t>
            </a:r>
          </a:p>
        </p:txBody>
      </p:sp>
      <p:sp>
        <p:nvSpPr>
          <p:cNvPr id="12" name="1 Título">
            <a:extLst>
              <a:ext uri="{FF2B5EF4-FFF2-40B4-BE49-F238E27FC236}">
                <a16:creationId xmlns:a16="http://schemas.microsoft.com/office/drawing/2014/main" id="{FBC1C648-AA16-1B45-4FED-D3584B5C4BA6}"/>
              </a:ext>
            </a:extLst>
          </p:cNvPr>
          <p:cNvSpPr txBox="1">
            <a:spLocks/>
          </p:cNvSpPr>
          <p:nvPr/>
        </p:nvSpPr>
        <p:spPr>
          <a:xfrm>
            <a:off x="460444" y="3132066"/>
            <a:ext cx="7772400" cy="35718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s-VE" sz="2000" b="1">
                <a:latin typeface="+mj-lt"/>
                <a:ea typeface="+mj-ea"/>
                <a:cs typeface="+mj-cs"/>
              </a:rPr>
              <a:t>Objetivos e indicadores de éxito</a:t>
            </a:r>
          </a:p>
        </p:txBody>
      </p:sp>
      <p:graphicFrame>
        <p:nvGraphicFramePr>
          <p:cNvPr id="13" name="12 Tabla">
            <a:extLst>
              <a:ext uri="{FF2B5EF4-FFF2-40B4-BE49-F238E27FC236}">
                <a16:creationId xmlns:a16="http://schemas.microsoft.com/office/drawing/2014/main" id="{B0F1056F-DC40-9A92-DD8B-199E5F7410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105981"/>
              </p:ext>
            </p:extLst>
          </p:nvPr>
        </p:nvGraphicFramePr>
        <p:xfrm>
          <a:off x="792000" y="3664228"/>
          <a:ext cx="7560000" cy="2865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251">
                <a:tc>
                  <a:txBody>
                    <a:bodyPr/>
                    <a:lstStyle/>
                    <a:p>
                      <a:pPr algn="ctr"/>
                      <a:r>
                        <a:rPr lang="es-VE" sz="1800"/>
                        <a:t>Objetivo</a:t>
                      </a:r>
                    </a:p>
                  </a:txBody>
                  <a:tcPr marL="91439" marR="91439" marT="45732" marB="4573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800"/>
                        <a:t>Métrica</a:t>
                      </a:r>
                    </a:p>
                  </a:txBody>
                  <a:tcPr marL="91439" marR="91439" marT="45732" marB="4573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800"/>
                        <a:t>Indicador de éxito</a:t>
                      </a:r>
                    </a:p>
                  </a:txBody>
                  <a:tcPr marL="91439" marR="91439" marT="45732" marB="4573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824">
                <a:tc>
                  <a:txBody>
                    <a:bodyPr/>
                    <a:lstStyle/>
                    <a:p>
                      <a:pPr algn="just"/>
                      <a:r>
                        <a:rPr lang="es-MX" sz="1400" b="0" i="0"/>
                        <a:t>Facilitar la autonomía digital de los estudiantes y reducir los errores en trámites académicos mediante recursos visuales accesibles y de fácil distribución.</a:t>
                      </a:r>
                      <a:endParaRPr lang="es-VE" sz="1400" b="0" i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32" marB="45732"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MX" sz="1400" b="0" i="0"/>
                        <a:t>Porcentaje de estudiantes que reportan mayor comprensión en encuestas (% comprensión).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MX" sz="1400" b="0" i="0"/>
                        <a:t>Número de errores registrados en trámites digitales (% reducción).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MX" sz="1400" b="0" i="0"/>
                        <a:t>Número de accesos a materiales (% de uso de QR).</a:t>
                      </a:r>
                    </a:p>
                  </a:txBody>
                  <a:tcPr marL="91439" marR="91439" marT="45732" marB="45732"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MX" sz="1400" b="0" i="0"/>
                        <a:t>Lograr al menos un 80% de comprensión en encuestas.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MX" sz="1400" b="0" i="0"/>
                        <a:t>Reducir en un 30% los errores en trámites digitales.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MX" sz="1400" b="0" i="0"/>
                        <a:t>Obtener al menos 500 accesos a materiales durante la primera fase de implementación.</a:t>
                      </a:r>
                    </a:p>
                  </a:txBody>
                  <a:tcPr marL="91439" marR="91439" marT="45732" marB="457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CD877298-646D-D923-2D47-F8CA9AD1B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E4B2058-DC05-40AB-9648-A4CB9AF94A3B}" type="slidenum">
              <a:rPr lang="es-VE" altLang="es-MX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</a:t>
            </a:fld>
            <a:endParaRPr lang="es-VE" altLang="es-MX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 Título">
            <a:extLst>
              <a:ext uri="{FF2B5EF4-FFF2-40B4-BE49-F238E27FC236}">
                <a16:creationId xmlns:a16="http://schemas.microsoft.com/office/drawing/2014/main" id="{ABCBE546-2C73-1974-7F9B-11E988E3F8F6}"/>
              </a:ext>
            </a:extLst>
          </p:cNvPr>
          <p:cNvSpPr txBox="1">
            <a:spLocks/>
          </p:cNvSpPr>
          <p:nvPr/>
        </p:nvSpPr>
        <p:spPr>
          <a:xfrm>
            <a:off x="457200" y="1357313"/>
            <a:ext cx="7772400" cy="35718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s-VE" sz="2800" b="1">
                <a:latin typeface="+mj-lt"/>
                <a:ea typeface="+mj-ea"/>
                <a:cs typeface="+mj-cs"/>
              </a:rPr>
              <a:t>Visión General del Proyecto</a:t>
            </a:r>
          </a:p>
        </p:txBody>
      </p:sp>
      <p:sp>
        <p:nvSpPr>
          <p:cNvPr id="11267" name="7 Marcador de contenido">
            <a:extLst>
              <a:ext uri="{FF2B5EF4-FFF2-40B4-BE49-F238E27FC236}">
                <a16:creationId xmlns:a16="http://schemas.microsoft.com/office/drawing/2014/main" id="{A01835AA-13E7-A7E7-91D7-0FF531407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198403"/>
            <a:ext cx="8229600" cy="1826220"/>
          </a:xfrm>
        </p:spPr>
        <p:txBody>
          <a:bodyPr/>
          <a:lstStyle/>
          <a:p>
            <a:pPr algn="just">
              <a:spcBef>
                <a:spcPct val="0"/>
              </a:spcBef>
            </a:pPr>
            <a:r>
              <a:rPr lang="es-VE" altLang="es-MX" sz="1600">
                <a:cs typeface="Arial" panose="020B0604020202020204" pitchFamily="34" charset="0"/>
              </a:rPr>
              <a:t>Los estudiantes cuentan con dispositivos móviles e internet para escanear códigos QR y acceder a los materiales.</a:t>
            </a:r>
          </a:p>
          <a:p>
            <a:pPr algn="just">
              <a:spcBef>
                <a:spcPct val="0"/>
              </a:spcBef>
            </a:pPr>
            <a:r>
              <a:rPr lang="es-VE" altLang="es-MX" sz="1600">
                <a:cs typeface="Arial" panose="020B0604020202020204" pitchFamily="34" charset="0"/>
              </a:rPr>
              <a:t>Los procesos escolares documentados se mantendrán estables al menos por un ciclo escolar.</a:t>
            </a:r>
          </a:p>
          <a:p>
            <a:pPr algn="just">
              <a:spcBef>
                <a:spcPct val="0"/>
              </a:spcBef>
            </a:pPr>
            <a:r>
              <a:rPr lang="es-VE" altLang="es-MX" sz="1600">
                <a:cs typeface="Arial" panose="020B0604020202020204" pitchFamily="34" charset="0"/>
              </a:rPr>
              <a:t>La universidad autorizará el uso de logotipos, colores y demás elementos de identidad institucional en los materiales.</a:t>
            </a:r>
          </a:p>
          <a:p>
            <a:pPr algn="just">
              <a:spcBef>
                <a:spcPct val="0"/>
              </a:spcBef>
            </a:pPr>
            <a:r>
              <a:rPr lang="es-VE" altLang="es-MX" sz="1600">
                <a:cs typeface="Arial" panose="020B0604020202020204" pitchFamily="34" charset="0"/>
              </a:rPr>
              <a:t>Aprobación y respaldo institucional para la difusión de materiales.</a:t>
            </a:r>
          </a:p>
          <a:p>
            <a:pPr algn="just">
              <a:spcBef>
                <a:spcPct val="0"/>
              </a:spcBef>
            </a:pPr>
            <a:r>
              <a:rPr lang="es-VE" altLang="es-MX" sz="1600">
                <a:cs typeface="Arial" panose="020B0604020202020204" pitchFamily="34" charset="0"/>
              </a:rPr>
              <a:t>Participación activa de estudiantes y personal académico en pruebas y </a:t>
            </a:r>
            <a:r>
              <a:rPr lang="es-VE" altLang="es-MX" sz="1600"/>
              <a:t>validación</a:t>
            </a:r>
            <a:r>
              <a:rPr lang="es-VE" altLang="es-MX" sz="1600">
                <a:cs typeface="Arial" panose="020B0604020202020204" pitchFamily="34" charset="0"/>
              </a:rPr>
              <a:t>.</a:t>
            </a:r>
          </a:p>
          <a:p>
            <a:pPr marL="0" lvl="0" indent="0">
              <a:spcBef>
                <a:spcPct val="0"/>
              </a:spcBef>
              <a:buFontTx/>
              <a:buChar char="•"/>
            </a:pPr>
            <a:endParaRPr lang="es-VE" altLang="es-MX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s-VE" altLang="es-MX" sz="1400">
              <a:solidFill>
                <a:srgbClr val="00B050"/>
              </a:solidFill>
            </a:endParaRPr>
          </a:p>
          <a:p>
            <a:pPr eaLnBrk="1" hangingPunct="1"/>
            <a:endParaRPr lang="es-VE" altLang="es-MX" sz="1400">
              <a:solidFill>
                <a:srgbClr val="00B050"/>
              </a:solidFill>
            </a:endParaRPr>
          </a:p>
          <a:p>
            <a:pPr eaLnBrk="1" hangingPunct="1"/>
            <a:endParaRPr lang="es-VE" altLang="es-MX" sz="1400">
              <a:solidFill>
                <a:srgbClr val="00B050"/>
              </a:solidFill>
            </a:endParaRPr>
          </a:p>
          <a:p>
            <a:pPr eaLnBrk="1" hangingPunct="1"/>
            <a:endParaRPr lang="es-VE" altLang="es-MX" sz="1800">
              <a:solidFill>
                <a:srgbClr val="00B050"/>
              </a:solidFill>
            </a:endParaRP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46A48F4A-FF4F-1DCC-21BC-FF2B53865DD6}"/>
              </a:ext>
            </a:extLst>
          </p:cNvPr>
          <p:cNvSpPr txBox="1">
            <a:spLocks/>
          </p:cNvSpPr>
          <p:nvPr/>
        </p:nvSpPr>
        <p:spPr>
          <a:xfrm>
            <a:off x="428625" y="1785938"/>
            <a:ext cx="7772400" cy="35718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s-VE" sz="2000" b="1">
                <a:latin typeface="+mj-lt"/>
                <a:ea typeface="+mj-ea"/>
                <a:cs typeface="+mj-cs"/>
              </a:rPr>
              <a:t>Premisas</a:t>
            </a:r>
          </a:p>
        </p:txBody>
      </p:sp>
      <p:sp>
        <p:nvSpPr>
          <p:cNvPr id="12" name="1 Título">
            <a:extLst>
              <a:ext uri="{FF2B5EF4-FFF2-40B4-BE49-F238E27FC236}">
                <a16:creationId xmlns:a16="http://schemas.microsoft.com/office/drawing/2014/main" id="{396BE315-71D5-6B1A-44F9-4E0DEAD561C8}"/>
              </a:ext>
            </a:extLst>
          </p:cNvPr>
          <p:cNvSpPr txBox="1">
            <a:spLocks/>
          </p:cNvSpPr>
          <p:nvPr/>
        </p:nvSpPr>
        <p:spPr>
          <a:xfrm>
            <a:off x="457200" y="4176024"/>
            <a:ext cx="7772400" cy="357188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s-VE" sz="2000" b="1">
                <a:latin typeface="+mj-lt"/>
                <a:ea typeface="+mj-ea"/>
                <a:cs typeface="+mj-cs"/>
              </a:rPr>
              <a:t>Restricciones</a:t>
            </a:r>
          </a:p>
        </p:txBody>
      </p:sp>
      <p:sp>
        <p:nvSpPr>
          <p:cNvPr id="11270" name="7 Marcador de contenido">
            <a:extLst>
              <a:ext uri="{FF2B5EF4-FFF2-40B4-BE49-F238E27FC236}">
                <a16:creationId xmlns:a16="http://schemas.microsoft.com/office/drawing/2014/main" id="{C22ED2F4-4E36-D9A4-3C68-446B8B9DA6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2911" y="4684613"/>
            <a:ext cx="8258175" cy="1433314"/>
          </a:xfrm>
        </p:spPr>
        <p:txBody>
          <a:bodyPr/>
          <a:lstStyle/>
          <a:p>
            <a:pPr algn="just">
              <a:spcBef>
                <a:spcPct val="0"/>
              </a:spcBef>
            </a:pPr>
            <a:r>
              <a:rPr lang="es-VE" altLang="es-MX" sz="1600" b="1" i="1">
                <a:cs typeface="Arial" panose="020B0604020202020204" pitchFamily="34" charset="0"/>
              </a:rPr>
              <a:t>Tiempo</a:t>
            </a:r>
            <a:r>
              <a:rPr lang="es-VE" altLang="es-MX" sz="1600" b="1">
                <a:cs typeface="Arial" panose="020B0604020202020204" pitchFamily="34" charset="0"/>
              </a:rPr>
              <a:t>:</a:t>
            </a:r>
            <a:r>
              <a:rPr lang="es-VE" altLang="es-MX" sz="1600">
                <a:cs typeface="Arial" panose="020B0604020202020204" pitchFamily="34" charset="0"/>
              </a:rPr>
              <a:t> El proyecto debe completarse antes del cierre del semestre (aprox. 3 meses).</a:t>
            </a:r>
          </a:p>
          <a:p>
            <a:pPr algn="just">
              <a:spcBef>
                <a:spcPct val="0"/>
              </a:spcBef>
            </a:pPr>
            <a:r>
              <a:rPr lang="es-VE" altLang="es-MX" sz="1600" b="1" i="1">
                <a:cs typeface="Arial" panose="020B0604020202020204" pitchFamily="34" charset="0"/>
              </a:rPr>
              <a:t>Presupuesto</a:t>
            </a:r>
            <a:r>
              <a:rPr lang="es-VE" altLang="es-MX" sz="1600" b="1">
                <a:cs typeface="Arial" panose="020B0604020202020204" pitchFamily="34" charset="0"/>
              </a:rPr>
              <a:t>:</a:t>
            </a:r>
            <a:r>
              <a:rPr lang="es-VE" altLang="es-MX" sz="1600">
                <a:cs typeface="Arial" panose="020B0604020202020204" pitchFamily="34" charset="0"/>
              </a:rPr>
              <a:t> Recursos limitados a impresión de carteles con QR y uso de software gratuito (</a:t>
            </a:r>
            <a:r>
              <a:rPr lang="es-VE" altLang="es-MX" sz="1600" err="1">
                <a:cs typeface="Arial" panose="020B0604020202020204" pitchFamily="34" charset="0"/>
              </a:rPr>
              <a:t>Canva</a:t>
            </a:r>
            <a:r>
              <a:rPr lang="es-VE" altLang="es-MX" sz="1600">
                <a:cs typeface="Arial" panose="020B0604020202020204" pitchFamily="34" charset="0"/>
              </a:rPr>
              <a:t>, OBS).</a:t>
            </a:r>
          </a:p>
          <a:p>
            <a:pPr algn="just">
              <a:spcBef>
                <a:spcPct val="0"/>
              </a:spcBef>
            </a:pPr>
            <a:r>
              <a:rPr lang="es-VE" altLang="es-MX" sz="1600" b="1" i="1">
                <a:cs typeface="Arial" panose="020B0604020202020204" pitchFamily="34" charset="0"/>
              </a:rPr>
              <a:t>Recursos humanos</a:t>
            </a:r>
            <a:r>
              <a:rPr lang="es-VE" altLang="es-MX" sz="1600" b="1">
                <a:cs typeface="Arial" panose="020B0604020202020204" pitchFamily="34" charset="0"/>
              </a:rPr>
              <a:t>:</a:t>
            </a:r>
            <a:r>
              <a:rPr lang="es-VE" altLang="es-MX" sz="1600">
                <a:cs typeface="Arial" panose="020B0604020202020204" pitchFamily="34" charset="0"/>
              </a:rPr>
              <a:t> El equipo está conformado por un número reducido de integrantes.</a:t>
            </a:r>
          </a:p>
          <a:p>
            <a:pPr algn="just">
              <a:spcBef>
                <a:spcPct val="0"/>
              </a:spcBef>
            </a:pPr>
            <a:r>
              <a:rPr lang="es-VE" altLang="es-MX" sz="1600" b="1" i="1">
                <a:cs typeface="Arial" panose="020B0604020202020204" pitchFamily="34" charset="0"/>
              </a:rPr>
              <a:t>Normativas</a:t>
            </a:r>
            <a:r>
              <a:rPr lang="es-VE" altLang="es-MX" sz="1600" b="1">
                <a:cs typeface="Arial" panose="020B0604020202020204" pitchFamily="34" charset="0"/>
              </a:rPr>
              <a:t>:</a:t>
            </a:r>
            <a:r>
              <a:rPr lang="es-VE" altLang="es-MX" sz="1600">
                <a:cs typeface="Arial" panose="020B0604020202020204" pitchFamily="34" charset="0"/>
              </a:rPr>
              <a:t> Todo material debe alinearse al estatuto universitario y lineamientos institucionales.</a:t>
            </a:r>
          </a:p>
        </p:txBody>
      </p:sp>
      <p:sp>
        <p:nvSpPr>
          <p:cNvPr id="15" name="14 Marcador de número de diapositiva">
            <a:extLst>
              <a:ext uri="{FF2B5EF4-FFF2-40B4-BE49-F238E27FC236}">
                <a16:creationId xmlns:a16="http://schemas.microsoft.com/office/drawing/2014/main" id="{894FEF34-6EC8-225E-464B-E05255B2D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2A875F4-3835-4334-95D2-BBD71F848B2B}" type="slidenum">
              <a:rPr lang="es-VE" altLang="es-MX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6</a:t>
            </a:fld>
            <a:endParaRPr lang="es-VE" altLang="es-MX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 Título">
            <a:extLst>
              <a:ext uri="{FF2B5EF4-FFF2-40B4-BE49-F238E27FC236}">
                <a16:creationId xmlns:a16="http://schemas.microsoft.com/office/drawing/2014/main" id="{69598F82-1EC1-1D8F-440E-3F77D99CF37B}"/>
              </a:ext>
            </a:extLst>
          </p:cNvPr>
          <p:cNvSpPr txBox="1">
            <a:spLocks/>
          </p:cNvSpPr>
          <p:nvPr/>
        </p:nvSpPr>
        <p:spPr>
          <a:xfrm>
            <a:off x="500063" y="1357313"/>
            <a:ext cx="8258175" cy="35718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s-VE" sz="2800" b="1">
                <a:latin typeface="+mj-lt"/>
                <a:ea typeface="+mj-ea"/>
                <a:cs typeface="+mj-cs"/>
              </a:rPr>
              <a:t>Alineación del Proyecto con los objetivos Estratégicos</a:t>
            </a:r>
          </a:p>
        </p:txBody>
      </p:sp>
      <p:graphicFrame>
        <p:nvGraphicFramePr>
          <p:cNvPr id="4" name="3 Tabla">
            <a:extLst>
              <a:ext uri="{FF2B5EF4-FFF2-40B4-BE49-F238E27FC236}">
                <a16:creationId xmlns:a16="http://schemas.microsoft.com/office/drawing/2014/main" id="{65E2F23E-6CD0-C04C-331C-8564464ED5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545182"/>
              </p:ext>
            </p:extLst>
          </p:nvPr>
        </p:nvGraphicFramePr>
        <p:xfrm>
          <a:off x="272667" y="2091253"/>
          <a:ext cx="8712966" cy="3943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7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8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7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804">
                <a:tc>
                  <a:txBody>
                    <a:bodyPr/>
                    <a:lstStyle/>
                    <a:p>
                      <a:pPr algn="ctr"/>
                      <a:r>
                        <a:rPr lang="es-VE" sz="1800"/>
                        <a:t>Plan</a:t>
                      </a:r>
                      <a:r>
                        <a:rPr lang="es-VE" sz="1800" baseline="0"/>
                        <a:t> Estratégico</a:t>
                      </a:r>
                      <a:endParaRPr lang="es-VE" sz="1800"/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800"/>
                        <a:t>Objetivo Estratégico</a:t>
                      </a: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800"/>
                        <a:t>Relación con el Proyecto</a:t>
                      </a:r>
                    </a:p>
                  </a:txBody>
                  <a:tcPr marL="91439" marR="91439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8181">
                <a:tc>
                  <a:txBody>
                    <a:bodyPr/>
                    <a:lstStyle/>
                    <a:p>
                      <a:pPr algn="ctr"/>
                      <a:r>
                        <a:rPr lang="es-ES" sz="1600"/>
                        <a:t>Plan de Desarrollo Institucional UAEMéx</a:t>
                      </a:r>
                      <a:endParaRPr lang="es-VE" sz="160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/>
                        <a:t>Fortalecer el uso de tecnologías de la información y comunicación (TIC) en los procesos académicos y administrativos para mejorar la experiencia educativa.</a:t>
                      </a:r>
                      <a:endParaRPr lang="es-VE" sz="1600" kern="120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9" marR="91439"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/>
                        <a:t>El proyecto de guías y videos de apoyo para plataformas escolares contribuye al objetivo: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ES" sz="1600"/>
                        <a:t>Promover el uso efectivo de las plataformas institucionales por parte de los estudiantes.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ES" sz="1600"/>
                        <a:t>Reducir errores en procesos digitales, incrementando la eficiencia administrativa.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ES" sz="1600"/>
                        <a:t>Fomentar la autonomía digital de los alumnos, alineándose con la estrategia de innovación educativa.</a:t>
                      </a:r>
                    </a:p>
                  </a:txBody>
                  <a:tcPr marL="91439" marR="91439" marT="45727" marB="4572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589E82F9-35DE-7A1C-F057-90C4AD0EC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4C747BE-444B-4229-B554-066C3FB637FC}" type="slidenum">
              <a:rPr lang="es-VE" altLang="es-MX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7</a:t>
            </a:fld>
            <a:endParaRPr lang="es-VE" altLang="es-MX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 Título">
            <a:extLst>
              <a:ext uri="{FF2B5EF4-FFF2-40B4-BE49-F238E27FC236}">
                <a16:creationId xmlns:a16="http://schemas.microsoft.com/office/drawing/2014/main" id="{E71A5465-9DB2-6FA4-7717-659B01606C61}"/>
              </a:ext>
            </a:extLst>
          </p:cNvPr>
          <p:cNvSpPr txBox="1">
            <a:spLocks/>
          </p:cNvSpPr>
          <p:nvPr/>
        </p:nvSpPr>
        <p:spPr>
          <a:xfrm>
            <a:off x="500063" y="1357313"/>
            <a:ext cx="8258175" cy="35718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s-VE" sz="2800" b="1">
                <a:latin typeface="+mj-lt"/>
                <a:ea typeface="+mj-ea"/>
                <a:cs typeface="+mj-cs"/>
              </a:rPr>
              <a:t>Análisis Costo Beneficio</a:t>
            </a:r>
          </a:p>
        </p:txBody>
      </p:sp>
      <p:graphicFrame>
        <p:nvGraphicFramePr>
          <p:cNvPr id="5" name="4 Tabla">
            <a:extLst>
              <a:ext uri="{FF2B5EF4-FFF2-40B4-BE49-F238E27FC236}">
                <a16:creationId xmlns:a16="http://schemas.microsoft.com/office/drawing/2014/main" id="{A6D89EE2-22D9-7B2B-DE27-BD28719161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939493"/>
              </p:ext>
            </p:extLst>
          </p:nvPr>
        </p:nvGraphicFramePr>
        <p:xfrm>
          <a:off x="565622" y="2413793"/>
          <a:ext cx="8172450" cy="3171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5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5601">
                <a:tc>
                  <a:txBody>
                    <a:bodyPr/>
                    <a:lstStyle/>
                    <a:p>
                      <a:pPr algn="l"/>
                      <a:r>
                        <a:rPr lang="es-VE" sz="1800"/>
                        <a:t>Descripción</a:t>
                      </a: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VE" sz="1800" dirty="0"/>
                        <a:t>Costos (Semestral)</a:t>
                      </a:r>
                    </a:p>
                  </a:txBody>
                  <a:tcPr marL="91439" marR="91439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112">
                <a:tc>
                  <a:txBody>
                    <a:bodyPr/>
                    <a:lstStyle/>
                    <a:p>
                      <a:pPr algn="just"/>
                      <a:r>
                        <a:rPr lang="es-MX" sz="1800"/>
                        <a:t>Impresión de carteles con códigos QR</a:t>
                      </a:r>
                      <a:endParaRPr lang="es-VE" sz="180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$3,000 MXN semestral</a:t>
                      </a:r>
                    </a:p>
                  </a:txBody>
                  <a:tcPr marL="91439" marR="9143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601">
                <a:tc>
                  <a:txBody>
                    <a:bodyPr/>
                    <a:lstStyle/>
                    <a:p>
                      <a:pPr algn="just"/>
                      <a:r>
                        <a:rPr lang="es-MX" sz="1800" dirty="0"/>
                        <a:t>Software de edición (uso de licencias si se requiere, aunque se priorizará software libre)</a:t>
                      </a:r>
                      <a:endParaRPr lang="es-VE" sz="18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* $1,500 MXN anual</a:t>
                      </a:r>
                      <a:endParaRPr lang="es-VE" sz="18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9" marR="9143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601">
                <a:tc>
                  <a:txBody>
                    <a:bodyPr/>
                    <a:lstStyle/>
                    <a:p>
                      <a:pPr algn="just"/>
                      <a:r>
                        <a:rPr lang="es-MX" sz="1800" dirty="0"/>
                        <a:t>Tiempo invertido por el equipo (estimación en horas/hombre)</a:t>
                      </a:r>
                      <a:endParaRPr lang="es-VE" sz="18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/>
                        <a:t>$5,000 MXN semanal</a:t>
                      </a:r>
                    </a:p>
                    <a:p>
                      <a:pPr algn="ctr"/>
                      <a:r>
                        <a:rPr lang="es-MX" sz="1800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$120,000 MXN semestral</a:t>
                      </a:r>
                      <a:endParaRPr lang="es-VE" sz="18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9" marR="9143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112">
                <a:tc>
                  <a:txBody>
                    <a:bodyPr/>
                    <a:lstStyle/>
                    <a:p>
                      <a:pPr algn="r"/>
                      <a:r>
                        <a:rPr lang="es-VE" sz="1800">
                          <a:solidFill>
                            <a:srgbClr val="00B050"/>
                          </a:solidFill>
                        </a:rPr>
                        <a:t>Total aproximado:</a:t>
                      </a:r>
                    </a:p>
                  </a:txBody>
                  <a:tcPr marL="91439" marR="914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800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$123,000 MXN</a:t>
                      </a:r>
                    </a:p>
                  </a:txBody>
                  <a:tcPr marL="91439" marR="91439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1 Título">
            <a:extLst>
              <a:ext uri="{FF2B5EF4-FFF2-40B4-BE49-F238E27FC236}">
                <a16:creationId xmlns:a16="http://schemas.microsoft.com/office/drawing/2014/main" id="{51DDEFCF-9EBE-E379-9B86-56FD122235D4}"/>
              </a:ext>
            </a:extLst>
          </p:cNvPr>
          <p:cNvSpPr txBox="1">
            <a:spLocks/>
          </p:cNvSpPr>
          <p:nvPr/>
        </p:nvSpPr>
        <p:spPr>
          <a:xfrm>
            <a:off x="537047" y="1913730"/>
            <a:ext cx="7772400" cy="357188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s-VE" sz="2000" b="1">
                <a:latin typeface="+mj-lt"/>
                <a:ea typeface="+mj-ea"/>
                <a:cs typeface="+mj-cs"/>
              </a:rPr>
              <a:t>Costos</a:t>
            </a:r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C94F98CC-CFF4-0EC2-CBDE-F081B4982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83B32B0-0EFC-4717-8E43-E0A01869B347}" type="slidenum">
              <a:rPr lang="es-VE" altLang="es-MX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8</a:t>
            </a:fld>
            <a:endParaRPr lang="es-VE" altLang="es-MX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C162F72-BE4E-8C94-81D3-02F37E2FB5CC}"/>
              </a:ext>
            </a:extLst>
          </p:cNvPr>
          <p:cNvSpPr txBox="1"/>
          <p:nvPr/>
        </p:nvSpPr>
        <p:spPr>
          <a:xfrm>
            <a:off x="562347" y="5894685"/>
            <a:ext cx="81530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>
                <a:latin typeface="+mn-lt"/>
              </a:rPr>
              <a:t>*El total aproximado puede aumentar a $124,500 si se requiere la licencia de softwares de edición.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 Título">
            <a:extLst>
              <a:ext uri="{FF2B5EF4-FFF2-40B4-BE49-F238E27FC236}">
                <a16:creationId xmlns:a16="http://schemas.microsoft.com/office/drawing/2014/main" id="{09BAD2BF-0BE2-8645-0329-22B628A874F3}"/>
              </a:ext>
            </a:extLst>
          </p:cNvPr>
          <p:cNvSpPr txBox="1">
            <a:spLocks/>
          </p:cNvSpPr>
          <p:nvPr/>
        </p:nvSpPr>
        <p:spPr>
          <a:xfrm>
            <a:off x="500063" y="1357313"/>
            <a:ext cx="8258175" cy="35718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s-VE" sz="2800" b="1">
                <a:latin typeface="+mj-lt"/>
                <a:ea typeface="+mj-ea"/>
                <a:cs typeface="+mj-cs"/>
              </a:rPr>
              <a:t>Análisis Costo Beneficio</a:t>
            </a:r>
          </a:p>
        </p:txBody>
      </p:sp>
      <p:graphicFrame>
        <p:nvGraphicFramePr>
          <p:cNvPr id="5" name="4 Tabla">
            <a:extLst>
              <a:ext uri="{FF2B5EF4-FFF2-40B4-BE49-F238E27FC236}">
                <a16:creationId xmlns:a16="http://schemas.microsoft.com/office/drawing/2014/main" id="{1E152D52-1DF3-1C2A-F378-3709D70EBB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802389"/>
              </p:ext>
            </p:extLst>
          </p:nvPr>
        </p:nvGraphicFramePr>
        <p:xfrm>
          <a:off x="542925" y="2214563"/>
          <a:ext cx="8172450" cy="3291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5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685">
                <a:tc>
                  <a:txBody>
                    <a:bodyPr/>
                    <a:lstStyle/>
                    <a:p>
                      <a:pPr algn="ctr"/>
                      <a:r>
                        <a:rPr lang="es-VE" sz="1800"/>
                        <a:t>Descripción</a:t>
                      </a:r>
                    </a:p>
                  </a:txBody>
                  <a:tcPr marL="91439" marR="91439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800" dirty="0"/>
                        <a:t>Costos (Semestral)</a:t>
                      </a:r>
                    </a:p>
                  </a:txBody>
                  <a:tcPr marL="91439" marR="91439" marT="45711" marB="4571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5820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Reducir el de tiempo de atención a consultas administrativas en servicios escolares (Control escolar, Servicio de becas y </a:t>
                      </a:r>
                      <a:r>
                        <a:rPr lang="es-MX" sz="1600" dirty="0" err="1"/>
                        <a:t>Microsft</a:t>
                      </a:r>
                      <a:r>
                        <a:rPr lang="es-MX" sz="1600" dirty="0"/>
                        <a:t> </a:t>
                      </a:r>
                      <a:r>
                        <a:rPr lang="es-MX" sz="1600" dirty="0" err="1"/>
                        <a:t>Teams</a:t>
                      </a:r>
                      <a:r>
                        <a:rPr lang="es-MX" sz="1600" dirty="0"/>
                        <a:t>)</a:t>
                      </a:r>
                      <a:endParaRPr lang="es-VE" sz="16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$6,050 MXN semanal</a:t>
                      </a:r>
                    </a:p>
                    <a:p>
                      <a:pPr algn="ctr"/>
                      <a:r>
                        <a:rPr lang="es-MX" sz="1600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$145,200 MXN semestral</a:t>
                      </a:r>
                      <a:endParaRPr lang="es-VE" sz="16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9" marR="91439" marT="45711" marB="4571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85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Autonomía en trámites de inscripciones de UA, bajas de UA, Alta de becas</a:t>
                      </a:r>
                      <a:endParaRPr lang="es-VE" sz="16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$6,050 MXN semanal</a:t>
                      </a:r>
                    </a:p>
                    <a:p>
                      <a:pPr algn="ctr"/>
                      <a:r>
                        <a:rPr lang="es-MX" sz="1600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$145,200 MXN semestral</a:t>
                      </a:r>
                      <a:endParaRPr lang="es-VE" sz="16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9" marR="91439" marT="45711" marB="4571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85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Reducir visitas repetitivas de estudiantes a las áreas de Control escolar y Servicio de becas</a:t>
                      </a:r>
                    </a:p>
                  </a:txBody>
                  <a:tcPr marL="91439" marR="91439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$6,050 MXN semanal</a:t>
                      </a:r>
                    </a:p>
                    <a:p>
                      <a:pPr algn="ctr"/>
                      <a:r>
                        <a:rPr lang="es-MX" sz="1600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$145,200 MXN semestral</a:t>
                      </a:r>
                      <a:endParaRPr lang="es-VE" sz="16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9" marR="91439" marT="45711" marB="4571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85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Fortalecer la Imagen institucional (mejorar la percepción de modernidad y apoyo estudiantil)</a:t>
                      </a:r>
                    </a:p>
                  </a:txBody>
                  <a:tcPr marL="91439" marR="91439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$67 MXN mes/usuario</a:t>
                      </a:r>
                    </a:p>
                    <a:p>
                      <a:pPr algn="ctr"/>
                      <a:r>
                        <a:rPr lang="es-MX" sz="1600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*$1,200,000  semestral</a:t>
                      </a:r>
                      <a:endParaRPr lang="es-VE" sz="16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9" marR="91439" marT="45711" marB="45711" anchor="ctr"/>
                </a:tc>
                <a:extLst>
                  <a:ext uri="{0D108BD9-81ED-4DB2-BD59-A6C34878D82A}">
                    <a16:rowId xmlns:a16="http://schemas.microsoft.com/office/drawing/2014/main" val="1638813690"/>
                  </a:ext>
                </a:extLst>
              </a:tr>
              <a:tr h="36568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6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Total aproximado: </a:t>
                      </a:r>
                    </a:p>
                  </a:txBody>
                  <a:tcPr marL="91439" marR="91439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600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$1,345,200 MXN</a:t>
                      </a:r>
                    </a:p>
                  </a:txBody>
                  <a:tcPr marL="91439" marR="91439" marT="45711" marB="45711" anchor="ctr"/>
                </a:tc>
                <a:extLst>
                  <a:ext uri="{0D108BD9-81ED-4DB2-BD59-A6C34878D82A}">
                    <a16:rowId xmlns:a16="http://schemas.microsoft.com/office/drawing/2014/main" val="3770699693"/>
                  </a:ext>
                </a:extLst>
              </a:tr>
            </a:tbl>
          </a:graphicData>
        </a:graphic>
      </p:graphicFrame>
      <p:sp>
        <p:nvSpPr>
          <p:cNvPr id="6" name="1 Título">
            <a:extLst>
              <a:ext uri="{FF2B5EF4-FFF2-40B4-BE49-F238E27FC236}">
                <a16:creationId xmlns:a16="http://schemas.microsoft.com/office/drawing/2014/main" id="{BA4A4E2B-EA35-BFEB-942A-67064F6BAB22}"/>
              </a:ext>
            </a:extLst>
          </p:cNvPr>
          <p:cNvSpPr txBox="1">
            <a:spLocks/>
          </p:cNvSpPr>
          <p:nvPr/>
        </p:nvSpPr>
        <p:spPr>
          <a:xfrm>
            <a:off x="514350" y="1857375"/>
            <a:ext cx="7772400" cy="357188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s-VE" sz="2000" b="1">
                <a:latin typeface="+mj-lt"/>
                <a:ea typeface="+mj-ea"/>
                <a:cs typeface="+mj-cs"/>
              </a:rPr>
              <a:t>Beneficios</a:t>
            </a:r>
          </a:p>
        </p:txBody>
      </p:sp>
      <p:sp>
        <p:nvSpPr>
          <p:cNvPr id="9" name="8 Marcador de número de diapositiva">
            <a:extLst>
              <a:ext uri="{FF2B5EF4-FFF2-40B4-BE49-F238E27FC236}">
                <a16:creationId xmlns:a16="http://schemas.microsoft.com/office/drawing/2014/main" id="{7A6EA706-5E48-41C7-0C20-C2B889308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9BB1E23-523D-41BB-A1BE-E37914CFF28F}" type="slidenum">
              <a:rPr lang="es-VE" altLang="es-MX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9</a:t>
            </a:fld>
            <a:endParaRPr lang="es-VE" altLang="es-MX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8C37704-0774-CF4C-2BE6-0C1C19E26715}"/>
              </a:ext>
            </a:extLst>
          </p:cNvPr>
          <p:cNvSpPr txBox="1"/>
          <p:nvPr/>
        </p:nvSpPr>
        <p:spPr>
          <a:xfrm>
            <a:off x="533772" y="5657671"/>
            <a:ext cx="81530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400" dirty="0">
                <a:latin typeface="+mn-lt"/>
              </a:rPr>
              <a:t>*Se considero el costo semestral a partir de la población estudiantil aproximada de la UAEM Zumpango que es de unos 3,000 alumnos</a:t>
            </a:r>
          </a:p>
          <a:p>
            <a:pPr algn="just"/>
            <a:r>
              <a:rPr lang="es-MX" sz="1400" dirty="0">
                <a:latin typeface="+mn-lt"/>
              </a:rPr>
              <a:t>Resultado: El proyecto tiene un beneficio neto positivo de $1,222,200 MXN en el primer año, lo que justifica su viabilidad.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 Título">
            <a:extLst>
              <a:ext uri="{FF2B5EF4-FFF2-40B4-BE49-F238E27FC236}">
                <a16:creationId xmlns:a16="http://schemas.microsoft.com/office/drawing/2014/main" id="{10A71A22-0694-B05D-0BE4-28267BB20E78}"/>
              </a:ext>
            </a:extLst>
          </p:cNvPr>
          <p:cNvSpPr txBox="1">
            <a:spLocks/>
          </p:cNvSpPr>
          <p:nvPr/>
        </p:nvSpPr>
        <p:spPr>
          <a:xfrm>
            <a:off x="500063" y="1357313"/>
            <a:ext cx="8258175" cy="35718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s-VE" sz="2800" b="1">
                <a:latin typeface="+mj-lt"/>
                <a:ea typeface="+mj-ea"/>
                <a:cs typeface="+mj-cs"/>
              </a:rPr>
              <a:t>Análisis de Alternativas</a:t>
            </a:r>
          </a:p>
        </p:txBody>
      </p:sp>
      <p:graphicFrame>
        <p:nvGraphicFramePr>
          <p:cNvPr id="4" name="3 Tabla">
            <a:extLst>
              <a:ext uri="{FF2B5EF4-FFF2-40B4-BE49-F238E27FC236}">
                <a16:creationId xmlns:a16="http://schemas.microsoft.com/office/drawing/2014/main" id="{B7571A65-5873-0D17-4A64-8131F7A21C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233855"/>
              </p:ext>
            </p:extLst>
          </p:nvPr>
        </p:nvGraphicFramePr>
        <p:xfrm>
          <a:off x="542925" y="2117463"/>
          <a:ext cx="8028000" cy="3383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3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4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26">
                <a:tc>
                  <a:txBody>
                    <a:bodyPr/>
                    <a:lstStyle/>
                    <a:p>
                      <a:pPr algn="ctr"/>
                      <a:r>
                        <a:rPr lang="es-VE" sz="1800"/>
                        <a:t>Alternativas</a:t>
                      </a:r>
                    </a:p>
                  </a:txBody>
                  <a:tcPr marL="91439" marR="91439" marT="45716" marB="4571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800"/>
                        <a:t>Razones para no seleccionarla</a:t>
                      </a:r>
                    </a:p>
                  </a:txBody>
                  <a:tcPr marL="91439" marR="91439" marT="45716" marB="4571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20">
                <a:tc>
                  <a:txBody>
                    <a:bodyPr/>
                    <a:lstStyle/>
                    <a:p>
                      <a:pPr algn="ctr"/>
                      <a:r>
                        <a:rPr lang="es-VE" b="1" i="1"/>
                        <a:t>Mantener el estatus quo actual</a:t>
                      </a:r>
                    </a:p>
                  </a:txBody>
                  <a:tcPr marL="91439" marR="91439" marT="45716" marB="45716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/>
                        <a:t>Mantener la falta de guías continuaría generando errores y dependencia del personal administrativo, lo que no soluciona la problemática.</a:t>
                      </a:r>
                      <a:endParaRPr lang="es-VE" sz="1800" kern="120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9" marR="91439" marT="45716" marB="4571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20">
                <a:tc>
                  <a:txBody>
                    <a:bodyPr/>
                    <a:lstStyle/>
                    <a:p>
                      <a:pPr algn="ctr"/>
                      <a:r>
                        <a:rPr lang="es-MX" b="1" i="1"/>
                        <a:t>Capacitación presencial continua para estudiantes</a:t>
                      </a:r>
                      <a:endParaRPr lang="es-VE" sz="1800" b="1" i="1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16" marB="45716"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/>
                        <a:t>Requiere más recursos (tiempo de docentes, espacios, logística) y no es sostenible cada semestre para toda la población estudiantil.</a:t>
                      </a:r>
                      <a:endParaRPr lang="es-VE" sz="1800" kern="120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9" marR="91439" marT="45716" marB="4571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20">
                <a:tc>
                  <a:txBody>
                    <a:bodyPr/>
                    <a:lstStyle/>
                    <a:p>
                      <a:pPr algn="ctr"/>
                      <a:r>
                        <a:rPr lang="es-MX" b="1" i="1"/>
                        <a:t>Desarrollo de un sistema automatizado con tutoriales integrados en la plataforma</a:t>
                      </a:r>
                      <a:endParaRPr lang="es-VE" sz="1800" b="1" i="1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16" marB="45716"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/>
                        <a:t>Implica altos costos de desarrollo y mantenimiento de software, con tiempos prolongados de implementación.</a:t>
                      </a:r>
                      <a:endParaRPr lang="es-VE" sz="1800" kern="120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9" marR="91439" marT="45716" marB="4571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89C348A4-E2E8-7CD6-24EA-D9BAD7583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2E59496-6DB6-4535-99CF-1C80E92468C3}" type="slidenum">
              <a:rPr lang="es-VE" altLang="es-MX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10</a:t>
            </a:fld>
            <a:endParaRPr lang="es-VE" altLang="es-MX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 Título">
            <a:extLst>
              <a:ext uri="{FF2B5EF4-FFF2-40B4-BE49-F238E27FC236}">
                <a16:creationId xmlns:a16="http://schemas.microsoft.com/office/drawing/2014/main" id="{FC539DEB-A414-F32C-EBDD-E2F1860C17BA}"/>
              </a:ext>
            </a:extLst>
          </p:cNvPr>
          <p:cNvSpPr txBox="1">
            <a:spLocks/>
          </p:cNvSpPr>
          <p:nvPr/>
        </p:nvSpPr>
        <p:spPr>
          <a:xfrm>
            <a:off x="357188" y="1357313"/>
            <a:ext cx="8258175" cy="35718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s-VE" sz="2800" b="1">
                <a:latin typeface="+mj-lt"/>
                <a:ea typeface="+mj-ea"/>
                <a:cs typeface="+mj-cs"/>
              </a:rPr>
              <a:t>Aprobaciones</a:t>
            </a:r>
          </a:p>
        </p:txBody>
      </p:sp>
      <p:graphicFrame>
        <p:nvGraphicFramePr>
          <p:cNvPr id="5" name="4 Tabla">
            <a:extLst>
              <a:ext uri="{FF2B5EF4-FFF2-40B4-BE49-F238E27FC236}">
                <a16:creationId xmlns:a16="http://schemas.microsoft.com/office/drawing/2014/main" id="{E268B580-8DCE-D439-7137-6E1B743614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807319"/>
              </p:ext>
            </p:extLst>
          </p:nvPr>
        </p:nvGraphicFramePr>
        <p:xfrm>
          <a:off x="500063" y="2000250"/>
          <a:ext cx="7786688" cy="3794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6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6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6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6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151">
                <a:tc>
                  <a:txBody>
                    <a:bodyPr/>
                    <a:lstStyle/>
                    <a:p>
                      <a:pPr algn="ctr"/>
                      <a:r>
                        <a:rPr lang="es-VE" sz="1800"/>
                        <a:t>Aprobador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800"/>
                        <a:t>Cargo en la organización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800"/>
                        <a:t>Firma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800"/>
                        <a:t>Fecha</a:t>
                      </a:r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pPr algn="ctr"/>
                      <a:r>
                        <a:rPr lang="es-US" sz="1600"/>
                        <a:t>M. en E. Maria </a:t>
                      </a:r>
                      <a:r>
                        <a:rPr lang="es-VE" sz="1600"/>
                        <a:t>Candelaria Monica Niembro Ganoa </a:t>
                      </a:r>
                    </a:p>
                  </a:txBody>
                  <a:tcPr marL="91439" marR="91439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600"/>
                        <a:t>Encargada de la plataforma de becas </a:t>
                      </a:r>
                    </a:p>
                  </a:txBody>
                  <a:tcPr marL="91439" marR="91439" marT="45725" marB="45725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800" dirty="0"/>
                    </a:p>
                  </a:txBody>
                  <a:tcPr marL="91439" marR="91439" marT="45725" marB="45725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800"/>
                    </a:p>
                  </a:txBody>
                  <a:tcPr marL="91439" marR="91439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pPr algn="ctr"/>
                      <a:r>
                        <a:rPr lang="es-VE" sz="1600"/>
                        <a:t>Lic. Martha Vargas Cruz</a:t>
                      </a:r>
                    </a:p>
                  </a:txBody>
                  <a:tcPr marL="91439" marR="91439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600"/>
                        <a:t>Encargada de control escolar </a:t>
                      </a:r>
                    </a:p>
                  </a:txBody>
                  <a:tcPr marL="91439" marR="91439" marT="45725" marB="45725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800"/>
                    </a:p>
                  </a:txBody>
                  <a:tcPr marL="91439" marR="91439" marT="45725" marB="45725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800"/>
                    </a:p>
                  </a:txBody>
                  <a:tcPr marL="91439" marR="91439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pPr algn="ctr"/>
                      <a:r>
                        <a:rPr lang="es-VE" sz="1800" dirty="0"/>
                        <a:t>David Israel Guerrero Estrada</a:t>
                      </a:r>
                    </a:p>
                  </a:txBody>
                  <a:tcPr marL="91439" marR="91439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800" dirty="0"/>
                        <a:t>Gerente del proyecto</a:t>
                      </a:r>
                    </a:p>
                  </a:txBody>
                  <a:tcPr marL="91439" marR="91439" marT="45725" marB="45725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800"/>
                    </a:p>
                  </a:txBody>
                  <a:tcPr marL="91439" marR="91439" marT="45725" marB="45725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800"/>
                    </a:p>
                  </a:txBody>
                  <a:tcPr marL="91439" marR="91439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pPr algn="ctr"/>
                      <a:endParaRPr lang="es-VE" sz="1800"/>
                    </a:p>
                  </a:txBody>
                  <a:tcPr marL="91439" marR="91439" marT="45725" marB="45725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800"/>
                    </a:p>
                  </a:txBody>
                  <a:tcPr marL="91439" marR="91439" marT="45725" marB="45725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800"/>
                    </a:p>
                  </a:txBody>
                  <a:tcPr marL="91439" marR="91439" marT="45725" marB="45725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800"/>
                    </a:p>
                  </a:txBody>
                  <a:tcPr marL="91439" marR="91439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pPr algn="ctr"/>
                      <a:endParaRPr lang="es-VE" sz="1800"/>
                    </a:p>
                  </a:txBody>
                  <a:tcPr marL="91439" marR="91439" marT="45725" marB="45725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800"/>
                    </a:p>
                  </a:txBody>
                  <a:tcPr marL="91439" marR="91439" marT="45725" marB="45725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800"/>
                    </a:p>
                  </a:txBody>
                  <a:tcPr marL="91439" marR="91439" marT="45725" marB="45725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800"/>
                    </a:p>
                  </a:txBody>
                  <a:tcPr marL="91439" marR="91439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pPr algn="ctr"/>
                      <a:endParaRPr lang="es-VE" sz="1800"/>
                    </a:p>
                  </a:txBody>
                  <a:tcPr marL="91439" marR="91439" marT="45725" marB="45725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800"/>
                    </a:p>
                  </a:txBody>
                  <a:tcPr marL="91439" marR="91439" marT="45725" marB="45725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800"/>
                    </a:p>
                  </a:txBody>
                  <a:tcPr marL="91439" marR="91439" marT="45725" marB="45725" anchor="ctr"/>
                </a:tc>
                <a:tc>
                  <a:txBody>
                    <a:bodyPr/>
                    <a:lstStyle/>
                    <a:p>
                      <a:pPr algn="ctr"/>
                      <a:endParaRPr lang="es-VE" sz="1800" dirty="0"/>
                    </a:p>
                  </a:txBody>
                  <a:tcPr marL="91439" marR="91439" marT="45725" marB="457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07E0681D-A5FF-7231-AF27-6A6E5D40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85F495E-2EE8-40EE-BFE6-42B79C378D9B}" type="slidenum">
              <a:rPr lang="es-VE" altLang="es-MX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11</a:t>
            </a:fld>
            <a:endParaRPr lang="es-VE" altLang="es-MX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14655-0474-31C8-6679-55B0AADB6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1 Título">
            <a:extLst>
              <a:ext uri="{FF2B5EF4-FFF2-40B4-BE49-F238E27FC236}">
                <a16:creationId xmlns:a16="http://schemas.microsoft.com/office/drawing/2014/main" id="{ED8D37D0-547B-CF48-B1AC-9B8CC5E5F0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VE" b="1"/>
              <a:t>Caso de Negocio</a:t>
            </a:r>
            <a:br>
              <a:rPr lang="es-VE" b="1"/>
            </a:br>
            <a:r>
              <a:rPr lang="es-VE" sz="2400" b="1">
                <a:solidFill>
                  <a:srgbClr val="00B05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MX" sz="2400" b="1">
                <a:solidFill>
                  <a:srgbClr val="00B050"/>
                </a:solidFill>
                <a:latin typeface="+mn-lt"/>
                <a:ea typeface="+mn-ea"/>
                <a:cs typeface="+mn-cs"/>
              </a:rPr>
              <a:t>Guías y videos de apoyo para el uso de plataformas escolares de la </a:t>
            </a:r>
            <a:r>
              <a:rPr lang="es-MX" sz="2400" b="1" err="1">
                <a:solidFill>
                  <a:srgbClr val="00B050"/>
                </a:solidFill>
                <a:latin typeface="+mn-lt"/>
                <a:ea typeface="+mn-ea"/>
                <a:cs typeface="+mn-cs"/>
              </a:rPr>
              <a:t>UAEMéx</a:t>
            </a:r>
            <a:endParaRPr lang="es-VE" sz="2400" b="1">
              <a:solidFill>
                <a:srgbClr val="00B05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56BEB986-F1D9-3496-AF92-249732259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0188" y="3786188"/>
            <a:ext cx="6400800" cy="1500187"/>
          </a:xfrm>
        </p:spPr>
        <p:txBody>
          <a:bodyPr rtlCol="0">
            <a:normAutofit fontScale="70000" lnSpcReduction="2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VE" sz="2800" b="1"/>
              <a:t>Organización: </a:t>
            </a:r>
            <a:r>
              <a:rPr lang="es-VE" sz="2800" b="1">
                <a:solidFill>
                  <a:srgbClr val="00B050"/>
                </a:solidFill>
              </a:rPr>
              <a:t>Universidad Autónoma del Estado de México </a:t>
            </a:r>
            <a:r>
              <a:rPr lang="es-VE" sz="2800" b="1" err="1">
                <a:solidFill>
                  <a:srgbClr val="00B050"/>
                </a:solidFill>
              </a:rPr>
              <a:t>UAEMéx</a:t>
            </a:r>
            <a:endParaRPr lang="es-VE" sz="2800" b="1"/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s-VE" sz="2800" b="1"/>
              <a:t>Fecha:</a:t>
            </a:r>
            <a:r>
              <a:rPr lang="es-VE" sz="2800"/>
              <a:t> </a:t>
            </a:r>
            <a:r>
              <a:rPr lang="es-VE" sz="2800" b="1">
                <a:solidFill>
                  <a:srgbClr val="00B050"/>
                </a:solidFill>
              </a:rPr>
              <a:t>03/10/2025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s-VE" sz="2800" b="1"/>
              <a:t>Cliente: </a:t>
            </a:r>
            <a:r>
              <a:rPr lang="es-VE" sz="2800" b="1">
                <a:solidFill>
                  <a:srgbClr val="00B050"/>
                </a:solidFill>
              </a:rPr>
              <a:t>Estudiantes de la </a:t>
            </a:r>
            <a:r>
              <a:rPr lang="es-VE" sz="2800" b="1" err="1">
                <a:solidFill>
                  <a:srgbClr val="00B050"/>
                </a:solidFill>
              </a:rPr>
              <a:t>UAEMéx</a:t>
            </a:r>
            <a:endParaRPr lang="es-VE" sz="2800" b="1">
              <a:solidFill>
                <a:srgbClr val="00B050"/>
              </a:solidFill>
            </a:endParaRP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s-VE" sz="2800" b="1"/>
              <a:t>Patrocinador: </a:t>
            </a:r>
            <a:r>
              <a:rPr lang="es-VE" sz="2800" b="1">
                <a:solidFill>
                  <a:srgbClr val="00B050"/>
                </a:solidFill>
              </a:rPr>
              <a:t>Prof. </a:t>
            </a:r>
            <a:r>
              <a:rPr lang="es-VE" sz="2800" b="1" err="1">
                <a:solidFill>
                  <a:srgbClr val="00B050"/>
                </a:solidFill>
              </a:rPr>
              <a:t>Hazem</a:t>
            </a:r>
            <a:r>
              <a:rPr lang="es-VE" sz="2800" b="1">
                <a:solidFill>
                  <a:srgbClr val="00B050"/>
                </a:solidFill>
              </a:rPr>
              <a:t> Álvarez Rodríguez</a:t>
            </a:r>
            <a:endParaRPr lang="es-VE" sz="2800" b="1"/>
          </a:p>
          <a:p>
            <a:pPr algn="l" eaLnBrk="1" fontAlgn="auto" hangingPunct="1">
              <a:spcAft>
                <a:spcPts val="0"/>
              </a:spcAft>
              <a:defRPr/>
            </a:pPr>
            <a:endParaRPr lang="es-VE" sz="2800" b="1"/>
          </a:p>
          <a:p>
            <a:pPr algn="l" eaLnBrk="1" fontAlgn="auto" hangingPunct="1">
              <a:spcAft>
                <a:spcPts val="0"/>
              </a:spcAft>
              <a:defRPr/>
            </a:pPr>
            <a:endParaRPr lang="es-VE" sz="2800" b="1">
              <a:solidFill>
                <a:srgbClr val="00B050"/>
              </a:solidFill>
            </a:endParaRPr>
          </a:p>
        </p:txBody>
      </p:sp>
      <p:sp>
        <p:nvSpPr>
          <p:cNvPr id="4" name="3 Marcador de número de diapositiva">
            <a:extLst>
              <a:ext uri="{FF2B5EF4-FFF2-40B4-BE49-F238E27FC236}">
                <a16:creationId xmlns:a16="http://schemas.microsoft.com/office/drawing/2014/main" id="{49DCB682-C20E-8B9E-9BA3-800A8004A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DC87A76-960A-4BCC-8009-A352BADBEF33}" type="slidenum">
              <a:rPr lang="es-VE" altLang="es-MX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12</a:t>
            </a:fld>
            <a:endParaRPr lang="es-VE" altLang="es-MX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2979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1A3113D649624F9135CDBD3D69C302" ma:contentTypeVersion="14" ma:contentTypeDescription="Create a new document." ma:contentTypeScope="" ma:versionID="13ffc8dcfefe0bebfe1d287b721fe34d">
  <xsd:schema xmlns:xsd="http://www.w3.org/2001/XMLSchema" xmlns:xs="http://www.w3.org/2001/XMLSchema" xmlns:p="http://schemas.microsoft.com/office/2006/metadata/properties" xmlns:ns3="6af09f24-5ef0-42a5-957c-ff861d9f3bca" xmlns:ns4="0fa9766c-9bcd-4ad8-8425-98b74b0d2252" targetNamespace="http://schemas.microsoft.com/office/2006/metadata/properties" ma:root="true" ma:fieldsID="df4ecb7d677b47b7113d60f963805797" ns3:_="" ns4:_="">
    <xsd:import namespace="6af09f24-5ef0-42a5-957c-ff861d9f3bca"/>
    <xsd:import namespace="0fa9766c-9bcd-4ad8-8425-98b74b0d2252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_activity" minOccurs="0"/>
                <xsd:element ref="ns4:MediaServiceSearchPropertie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ObjectDetectorVersions" minOccurs="0"/>
                <xsd:element ref="ns4:MediaServiceSystemTags" minOccurs="0"/>
                <xsd:element ref="ns4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f09f24-5ef0-42a5-957c-ff861d9f3bc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a9766c-9bcd-4ad8-8425-98b74b0d22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fa9766c-9bcd-4ad8-8425-98b74b0d2252" xsi:nil="true"/>
  </documentManagement>
</p:properties>
</file>

<file path=customXml/itemProps1.xml><?xml version="1.0" encoding="utf-8"?>
<ds:datastoreItem xmlns:ds="http://schemas.openxmlformats.org/officeDocument/2006/customXml" ds:itemID="{72FB2F55-51D0-448F-9809-E49992EB4975}">
  <ds:schemaRefs>
    <ds:schemaRef ds:uri="0fa9766c-9bcd-4ad8-8425-98b74b0d2252"/>
    <ds:schemaRef ds:uri="6af09f24-5ef0-42a5-957c-ff861d9f3bca"/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CDF7F61-FD15-466C-8F02-2610A58E29C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3628CD-0931-4DF5-AC3C-2BF930DFFF76}">
  <ds:schemaRefs>
    <ds:schemaRef ds:uri="6af09f24-5ef0-42a5-957c-ff861d9f3bca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dcmitype/"/>
    <ds:schemaRef ds:uri="http://purl.org/dc/terms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0fa9766c-9bcd-4ad8-8425-98b74b0d225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1189</Words>
  <Application>Microsoft Office PowerPoint</Application>
  <PresentationFormat>Presentación en pantalla (4:3)</PresentationFormat>
  <Paragraphs>143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Tema de Office</vt:lpstr>
      <vt:lpstr>Caso de Negocio  Guías y videos de apoyo para el uso de plataformas escolares de la UAEMéx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Caso de Negocio  Guías y videos de apoyo para el uso de plataformas escolares de la UAEMéx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admin</dc:creator>
  <cp:lastModifiedBy>LUIS ALBERTO MEJIA LOPEZ</cp:lastModifiedBy>
  <cp:revision>2</cp:revision>
  <dcterms:created xsi:type="dcterms:W3CDTF">2013-07-13T16:52:20Z</dcterms:created>
  <dcterms:modified xsi:type="dcterms:W3CDTF">2025-10-04T17:30:07Z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0x0101004C1A3113D649624F9135CDBD3D69C302</vt:lpwstr>
  </property>
</Properties>
</file>