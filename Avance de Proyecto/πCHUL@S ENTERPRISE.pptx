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Open Sans Bold" panose="020B0604020202020204" charset="0"/>
      <p:regular r:id="rId12"/>
    </p:embeddedFont>
    <p:embeddedFont>
      <p:font typeface="Open Sauce" panose="020B0604020202020204" charset="0"/>
      <p:regular r:id="rId13"/>
    </p:embeddedFont>
    <p:embeddedFont>
      <p:font typeface="Open Sauce Bold" panose="020B0604020202020204" charset="0"/>
      <p:regular r:id="rId14"/>
    </p:embeddedFont>
    <p:embeddedFont>
      <p:font typeface="Open Sauce Italics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93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11.png"/><Relationship Id="rId7" Type="http://schemas.openxmlformats.org/officeDocument/2006/relationships/image" Target="../media/image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2.svg"/><Relationship Id="rId7" Type="http://schemas.openxmlformats.org/officeDocument/2006/relationships/image" Target="../media/image20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3.svg"/><Relationship Id="rId7" Type="http://schemas.openxmlformats.org/officeDocument/2006/relationships/image" Target="../media/image20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2.svg"/><Relationship Id="rId10" Type="http://schemas.openxmlformats.org/officeDocument/2006/relationships/image" Target="../media/image24.jpeg"/><Relationship Id="rId4" Type="http://schemas.openxmlformats.org/officeDocument/2006/relationships/image" Target="../media/image11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3.svg"/><Relationship Id="rId7" Type="http://schemas.openxmlformats.org/officeDocument/2006/relationships/image" Target="../media/image20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2.svg"/><Relationship Id="rId10" Type="http://schemas.openxmlformats.org/officeDocument/2006/relationships/image" Target="../media/image37.png"/><Relationship Id="rId4" Type="http://schemas.openxmlformats.org/officeDocument/2006/relationships/image" Target="../media/image11.png"/><Relationship Id="rId9" Type="http://schemas.openxmlformats.org/officeDocument/2006/relationships/image" Target="../media/image36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12" Type="http://schemas.openxmlformats.org/officeDocument/2006/relationships/image" Target="../media/image10.sv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svg"/><Relationship Id="rId11" Type="http://schemas.openxmlformats.org/officeDocument/2006/relationships/image" Target="../media/image9.png"/><Relationship Id="rId5" Type="http://schemas.openxmlformats.org/officeDocument/2006/relationships/image" Target="../media/image41.png"/><Relationship Id="rId10" Type="http://schemas.openxmlformats.org/officeDocument/2006/relationships/image" Target="../media/image46.svg"/><Relationship Id="rId4" Type="http://schemas.openxmlformats.org/officeDocument/2006/relationships/image" Target="../media/image40.sv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8.svg"/><Relationship Id="rId7" Type="http://schemas.openxmlformats.org/officeDocument/2006/relationships/image" Target="../media/image12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.svg"/><Relationship Id="rId10" Type="http://schemas.openxmlformats.org/officeDocument/2006/relationships/image" Target="../media/image37.png"/><Relationship Id="rId4" Type="http://schemas.openxmlformats.org/officeDocument/2006/relationships/image" Target="../media/image1.png"/><Relationship Id="rId9" Type="http://schemas.openxmlformats.org/officeDocument/2006/relationships/image" Target="../media/image2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DC75FA">
                <a:alpha val="100000"/>
              </a:srgbClr>
            </a:gs>
            <a:gs pos="100000">
              <a:srgbClr val="EFBF1A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1396453"/>
            <a:ext cx="18288000" cy="11083773"/>
            <a:chOff x="0" y="0"/>
            <a:chExt cx="4816593" cy="29191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2919183"/>
            </a:xfrm>
            <a:custGeom>
              <a:avLst/>
              <a:gdLst/>
              <a:ahLst/>
              <a:cxnLst/>
              <a:rect l="l" t="t" r="r" b="b"/>
              <a:pathLst>
                <a:path w="4816592" h="2919183">
                  <a:moveTo>
                    <a:pt x="21590" y="0"/>
                  </a:moveTo>
                  <a:lnTo>
                    <a:pt x="4795002" y="0"/>
                  </a:lnTo>
                  <a:cubicBezTo>
                    <a:pt x="4800728" y="0"/>
                    <a:pt x="4806220" y="2275"/>
                    <a:pt x="4810269" y="6324"/>
                  </a:cubicBezTo>
                  <a:cubicBezTo>
                    <a:pt x="4814318" y="10372"/>
                    <a:pt x="4816592" y="15864"/>
                    <a:pt x="4816592" y="21590"/>
                  </a:cubicBezTo>
                  <a:lnTo>
                    <a:pt x="4816592" y="2897593"/>
                  </a:lnTo>
                  <a:cubicBezTo>
                    <a:pt x="4816592" y="2909517"/>
                    <a:pt x="4806926" y="2919183"/>
                    <a:pt x="4795002" y="2919183"/>
                  </a:cubicBezTo>
                  <a:lnTo>
                    <a:pt x="21590" y="2919183"/>
                  </a:lnTo>
                  <a:cubicBezTo>
                    <a:pt x="15864" y="2919183"/>
                    <a:pt x="10372" y="2916908"/>
                    <a:pt x="6324" y="2912859"/>
                  </a:cubicBezTo>
                  <a:cubicBezTo>
                    <a:pt x="2275" y="2908811"/>
                    <a:pt x="0" y="2903319"/>
                    <a:pt x="0" y="2897593"/>
                  </a:cubicBezTo>
                  <a:lnTo>
                    <a:pt x="0" y="21590"/>
                  </a:lnTo>
                  <a:cubicBezTo>
                    <a:pt x="0" y="9666"/>
                    <a:pt x="9666" y="0"/>
                    <a:pt x="2159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29572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9996199" y="-7188235"/>
            <a:ext cx="9529995" cy="9529995"/>
          </a:xfrm>
          <a:custGeom>
            <a:avLst/>
            <a:gdLst/>
            <a:ahLst/>
            <a:cxnLst/>
            <a:rect l="l" t="t" r="r" b="b"/>
            <a:pathLst>
              <a:path w="9529995" h="9529995">
                <a:moveTo>
                  <a:pt x="0" y="0"/>
                </a:moveTo>
                <a:lnTo>
                  <a:pt x="9529995" y="0"/>
                </a:lnTo>
                <a:lnTo>
                  <a:pt x="9529995" y="9529995"/>
                </a:lnTo>
                <a:lnTo>
                  <a:pt x="0" y="95299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 flipV="1">
            <a:off x="-810926" y="7857092"/>
            <a:ext cx="9529995" cy="9529995"/>
          </a:xfrm>
          <a:custGeom>
            <a:avLst/>
            <a:gdLst/>
            <a:ahLst/>
            <a:cxnLst/>
            <a:rect l="l" t="t" r="r" b="b"/>
            <a:pathLst>
              <a:path w="9529995" h="9529995">
                <a:moveTo>
                  <a:pt x="0" y="9529995"/>
                </a:moveTo>
                <a:lnTo>
                  <a:pt x="9529996" y="9529995"/>
                </a:lnTo>
                <a:lnTo>
                  <a:pt x="9529996" y="0"/>
                </a:lnTo>
                <a:lnTo>
                  <a:pt x="0" y="0"/>
                </a:lnTo>
                <a:lnTo>
                  <a:pt x="0" y="9529995"/>
                </a:lnTo>
                <a:close/>
              </a:path>
            </a:pathLst>
          </a:custGeom>
          <a:blipFill>
            <a:blip r:embed="rId4">
              <a:alphaModFix amt="77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7" name="Group 7"/>
          <p:cNvGrpSpPr/>
          <p:nvPr/>
        </p:nvGrpSpPr>
        <p:grpSpPr>
          <a:xfrm>
            <a:off x="-2150814" y="1730578"/>
            <a:ext cx="3412922" cy="3412922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4761196" y="5757869"/>
            <a:ext cx="2498104" cy="2498104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3ED56">
                    <a:alpha val="100000"/>
                  </a:srgbClr>
                </a:gs>
                <a:gs pos="100000">
                  <a:srgbClr val="E4832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612352" y="1730578"/>
            <a:ext cx="2785139" cy="2785139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28650" cap="sq">
              <a:gradFill>
                <a:gsLst>
                  <a:gs pos="0">
                    <a:srgbClr val="C3ED56">
                      <a:alpha val="100000"/>
                    </a:srgbClr>
                  </a:gs>
                  <a:gs pos="100000">
                    <a:srgbClr val="E48321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638862" y="5313037"/>
            <a:ext cx="779675" cy="718763"/>
          </a:xfrm>
          <a:custGeom>
            <a:avLst/>
            <a:gdLst/>
            <a:ahLst/>
            <a:cxnLst/>
            <a:rect l="l" t="t" r="r" b="b"/>
            <a:pathLst>
              <a:path w="779675" h="718763">
                <a:moveTo>
                  <a:pt x="0" y="0"/>
                </a:moveTo>
                <a:lnTo>
                  <a:pt x="779676" y="0"/>
                </a:lnTo>
                <a:lnTo>
                  <a:pt x="779676" y="718763"/>
                </a:lnTo>
                <a:lnTo>
                  <a:pt x="0" y="71876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 rot="2599173">
            <a:off x="16119968" y="1707782"/>
            <a:ext cx="609542" cy="561922"/>
          </a:xfrm>
          <a:custGeom>
            <a:avLst/>
            <a:gdLst/>
            <a:ahLst/>
            <a:cxnLst/>
            <a:rect l="l" t="t" r="r" b="b"/>
            <a:pathLst>
              <a:path w="609542" h="561922">
                <a:moveTo>
                  <a:pt x="0" y="0"/>
                </a:moveTo>
                <a:lnTo>
                  <a:pt x="609542" y="0"/>
                </a:lnTo>
                <a:lnTo>
                  <a:pt x="609542" y="561922"/>
                </a:lnTo>
                <a:lnTo>
                  <a:pt x="0" y="5619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>
            <a:off x="9510142" y="8167271"/>
            <a:ext cx="486056" cy="448083"/>
          </a:xfrm>
          <a:custGeom>
            <a:avLst/>
            <a:gdLst/>
            <a:ahLst/>
            <a:cxnLst/>
            <a:rect l="l" t="t" r="r" b="b"/>
            <a:pathLst>
              <a:path w="486056" h="448083">
                <a:moveTo>
                  <a:pt x="0" y="0"/>
                </a:moveTo>
                <a:lnTo>
                  <a:pt x="486057" y="0"/>
                </a:lnTo>
                <a:lnTo>
                  <a:pt x="486057" y="448084"/>
                </a:lnTo>
                <a:lnTo>
                  <a:pt x="0" y="44808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>
            <a:off x="-1327786" y="8288732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Freeform 20"/>
          <p:cNvSpPr/>
          <p:nvPr/>
        </p:nvSpPr>
        <p:spPr>
          <a:xfrm>
            <a:off x="17404567" y="3896607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1" name="Freeform 21"/>
          <p:cNvSpPr/>
          <p:nvPr/>
        </p:nvSpPr>
        <p:spPr>
          <a:xfrm>
            <a:off x="12184458" y="2276874"/>
            <a:ext cx="4654771" cy="4477687"/>
          </a:xfrm>
          <a:custGeom>
            <a:avLst/>
            <a:gdLst/>
            <a:ahLst/>
            <a:cxnLst/>
            <a:rect l="l" t="t" r="r" b="b"/>
            <a:pathLst>
              <a:path w="4654771" h="4477687">
                <a:moveTo>
                  <a:pt x="0" y="0"/>
                </a:moveTo>
                <a:lnTo>
                  <a:pt x="4654771" y="0"/>
                </a:lnTo>
                <a:lnTo>
                  <a:pt x="4654771" y="4477687"/>
                </a:lnTo>
                <a:lnTo>
                  <a:pt x="0" y="447768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2" name="TextBox 22"/>
          <p:cNvSpPr txBox="1"/>
          <p:nvPr/>
        </p:nvSpPr>
        <p:spPr>
          <a:xfrm>
            <a:off x="1844197" y="4879566"/>
            <a:ext cx="12334911" cy="43118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2"/>
              </a:lnSpc>
            </a:pPr>
            <a:r>
              <a:rPr lang="en-US" sz="12423" b="1" spc="-869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ENTERPRISE</a:t>
            </a:r>
          </a:p>
          <a:p>
            <a:pPr algn="l">
              <a:lnSpc>
                <a:spcPts val="17392"/>
              </a:lnSpc>
            </a:pPr>
            <a:endParaRPr lang="en-US" sz="12423" b="1" spc="-869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787047" y="2745721"/>
            <a:ext cx="14865194" cy="5087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91"/>
              </a:lnSpc>
            </a:pPr>
            <a:r>
              <a:rPr lang="en-US" sz="14636" b="1" spc="-1024">
                <a:solidFill>
                  <a:srgbClr val="996C9C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πCHUL@S</a:t>
            </a:r>
          </a:p>
          <a:p>
            <a:pPr algn="l">
              <a:lnSpc>
                <a:spcPts val="20491"/>
              </a:lnSpc>
            </a:pPr>
            <a:endParaRPr lang="en-US" sz="14636" b="1" spc="-1024">
              <a:solidFill>
                <a:srgbClr val="996C9C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2283410" y="7221969"/>
            <a:ext cx="9006983" cy="1288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8"/>
              </a:lnSpc>
            </a:pPr>
            <a:r>
              <a:rPr lang="en-US" sz="3699" i="1" u="sng" dirty="0">
                <a:solidFill>
                  <a:srgbClr val="70707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πCHUL@S ENTERPRISE</a:t>
            </a:r>
            <a:r>
              <a:rPr lang="en-US" sz="3699" i="1" dirty="0">
                <a:solidFill>
                  <a:srgbClr val="707070"/>
                </a:solidFill>
                <a:latin typeface="Open Sauce Italics"/>
                <a:ea typeface="Open Sauce Italics"/>
                <a:cs typeface="Open Sauce Italics"/>
                <a:sym typeface="Open Sauce Italics"/>
              </a:rPr>
              <a:t>, S.A. de C.V.</a:t>
            </a:r>
          </a:p>
          <a:p>
            <a:pPr algn="l">
              <a:lnSpc>
                <a:spcPts val="5178"/>
              </a:lnSpc>
            </a:pPr>
            <a:endParaRPr lang="en-US" sz="3699" i="1" dirty="0">
              <a:solidFill>
                <a:srgbClr val="707070"/>
              </a:solidFill>
              <a:latin typeface="Open Sauce Italics"/>
              <a:ea typeface="Open Sauce Italics"/>
              <a:cs typeface="Open Sauce Italics"/>
              <a:sym typeface="Open Sauce Itali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592695" y="1671337"/>
            <a:ext cx="2785139" cy="2785139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28650" cap="sq">
              <a:gradFill>
                <a:gsLst>
                  <a:gs pos="0">
                    <a:srgbClr val="DC75FA">
                      <a:alpha val="100000"/>
                    </a:srgbClr>
                  </a:gs>
                  <a:gs pos="100000">
                    <a:srgbClr val="EFBF1A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377835" y="-7250246"/>
            <a:ext cx="9529995" cy="9529995"/>
          </a:xfrm>
          <a:custGeom>
            <a:avLst/>
            <a:gdLst/>
            <a:ahLst/>
            <a:cxnLst/>
            <a:rect l="l" t="t" r="r" b="b"/>
            <a:pathLst>
              <a:path w="9529995" h="9529995">
                <a:moveTo>
                  <a:pt x="0" y="0"/>
                </a:moveTo>
                <a:lnTo>
                  <a:pt x="9529995" y="0"/>
                </a:lnTo>
                <a:lnTo>
                  <a:pt x="9529995" y="9529995"/>
                </a:lnTo>
                <a:lnTo>
                  <a:pt x="0" y="95299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6" name="Group 6"/>
          <p:cNvGrpSpPr/>
          <p:nvPr/>
        </p:nvGrpSpPr>
        <p:grpSpPr>
          <a:xfrm>
            <a:off x="1546228" y="6747331"/>
            <a:ext cx="3405634" cy="2510969"/>
            <a:chOff x="0" y="0"/>
            <a:chExt cx="979405" cy="72211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79405" cy="722113"/>
            </a:xfrm>
            <a:custGeom>
              <a:avLst/>
              <a:gdLst/>
              <a:ahLst/>
              <a:cxnLst/>
              <a:rect l="l" t="t" r="r" b="b"/>
              <a:pathLst>
                <a:path w="979405" h="722113">
                  <a:moveTo>
                    <a:pt x="38646" y="0"/>
                  </a:moveTo>
                  <a:lnTo>
                    <a:pt x="940759" y="0"/>
                  </a:lnTo>
                  <a:cubicBezTo>
                    <a:pt x="951008" y="0"/>
                    <a:pt x="960838" y="4072"/>
                    <a:pt x="968086" y="11319"/>
                  </a:cubicBezTo>
                  <a:cubicBezTo>
                    <a:pt x="975333" y="18566"/>
                    <a:pt x="979405" y="28396"/>
                    <a:pt x="979405" y="38646"/>
                  </a:cubicBezTo>
                  <a:lnTo>
                    <a:pt x="979405" y="683468"/>
                  </a:lnTo>
                  <a:cubicBezTo>
                    <a:pt x="979405" y="704811"/>
                    <a:pt x="962102" y="722113"/>
                    <a:pt x="940759" y="722113"/>
                  </a:cubicBezTo>
                  <a:lnTo>
                    <a:pt x="38646" y="722113"/>
                  </a:lnTo>
                  <a:cubicBezTo>
                    <a:pt x="28396" y="722113"/>
                    <a:pt x="18566" y="718042"/>
                    <a:pt x="11319" y="710794"/>
                  </a:cubicBezTo>
                  <a:cubicBezTo>
                    <a:pt x="4072" y="703547"/>
                    <a:pt x="0" y="693717"/>
                    <a:pt x="0" y="683468"/>
                  </a:cubicBezTo>
                  <a:lnTo>
                    <a:pt x="0" y="38646"/>
                  </a:lnTo>
                  <a:cubicBezTo>
                    <a:pt x="0" y="28396"/>
                    <a:pt x="4072" y="18566"/>
                    <a:pt x="11319" y="11319"/>
                  </a:cubicBezTo>
                  <a:cubicBezTo>
                    <a:pt x="18566" y="4072"/>
                    <a:pt x="28396" y="0"/>
                    <a:pt x="38646" y="0"/>
                  </a:cubicBezTo>
                  <a:close/>
                </a:path>
              </a:pathLst>
            </a:custGeom>
            <a:solidFill>
              <a:srgbClr val="F1F1F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79405" cy="7602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187061" y="6747331"/>
            <a:ext cx="3405634" cy="2510969"/>
            <a:chOff x="0" y="0"/>
            <a:chExt cx="979405" cy="72211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79405" cy="722113"/>
            </a:xfrm>
            <a:custGeom>
              <a:avLst/>
              <a:gdLst/>
              <a:ahLst/>
              <a:cxnLst/>
              <a:rect l="l" t="t" r="r" b="b"/>
              <a:pathLst>
                <a:path w="979405" h="722113">
                  <a:moveTo>
                    <a:pt x="38646" y="0"/>
                  </a:moveTo>
                  <a:lnTo>
                    <a:pt x="940759" y="0"/>
                  </a:lnTo>
                  <a:cubicBezTo>
                    <a:pt x="951008" y="0"/>
                    <a:pt x="960838" y="4072"/>
                    <a:pt x="968086" y="11319"/>
                  </a:cubicBezTo>
                  <a:cubicBezTo>
                    <a:pt x="975333" y="18566"/>
                    <a:pt x="979405" y="28396"/>
                    <a:pt x="979405" y="38646"/>
                  </a:cubicBezTo>
                  <a:lnTo>
                    <a:pt x="979405" y="683468"/>
                  </a:lnTo>
                  <a:cubicBezTo>
                    <a:pt x="979405" y="704811"/>
                    <a:pt x="962102" y="722113"/>
                    <a:pt x="940759" y="722113"/>
                  </a:cubicBezTo>
                  <a:lnTo>
                    <a:pt x="38646" y="722113"/>
                  </a:lnTo>
                  <a:cubicBezTo>
                    <a:pt x="28396" y="722113"/>
                    <a:pt x="18566" y="718042"/>
                    <a:pt x="11319" y="710794"/>
                  </a:cubicBezTo>
                  <a:cubicBezTo>
                    <a:pt x="4072" y="703547"/>
                    <a:pt x="0" y="693717"/>
                    <a:pt x="0" y="683468"/>
                  </a:cubicBezTo>
                  <a:lnTo>
                    <a:pt x="0" y="38646"/>
                  </a:lnTo>
                  <a:cubicBezTo>
                    <a:pt x="0" y="28396"/>
                    <a:pt x="4072" y="18566"/>
                    <a:pt x="11319" y="11319"/>
                  </a:cubicBezTo>
                  <a:cubicBezTo>
                    <a:pt x="18566" y="4072"/>
                    <a:pt x="28396" y="0"/>
                    <a:pt x="38646" y="0"/>
                  </a:cubicBezTo>
                  <a:close/>
                </a:path>
              </a:pathLst>
            </a:custGeom>
            <a:solidFill>
              <a:srgbClr val="F1F1F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79405" cy="7602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082158" y="6747331"/>
            <a:ext cx="3405634" cy="908329"/>
            <a:chOff x="0" y="0"/>
            <a:chExt cx="979405" cy="26122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79405" cy="261221"/>
            </a:xfrm>
            <a:custGeom>
              <a:avLst/>
              <a:gdLst/>
              <a:ahLst/>
              <a:cxnLst/>
              <a:rect l="l" t="t" r="r" b="b"/>
              <a:pathLst>
                <a:path w="979405" h="261221">
                  <a:moveTo>
                    <a:pt x="38646" y="0"/>
                  </a:moveTo>
                  <a:lnTo>
                    <a:pt x="940759" y="0"/>
                  </a:lnTo>
                  <a:cubicBezTo>
                    <a:pt x="951008" y="0"/>
                    <a:pt x="960838" y="4072"/>
                    <a:pt x="968086" y="11319"/>
                  </a:cubicBezTo>
                  <a:cubicBezTo>
                    <a:pt x="975333" y="18566"/>
                    <a:pt x="979405" y="28396"/>
                    <a:pt x="979405" y="38646"/>
                  </a:cubicBezTo>
                  <a:lnTo>
                    <a:pt x="979405" y="222575"/>
                  </a:lnTo>
                  <a:cubicBezTo>
                    <a:pt x="979405" y="232824"/>
                    <a:pt x="975333" y="242654"/>
                    <a:pt x="968086" y="249902"/>
                  </a:cubicBezTo>
                  <a:cubicBezTo>
                    <a:pt x="960838" y="257149"/>
                    <a:pt x="951008" y="261221"/>
                    <a:pt x="940759" y="261221"/>
                  </a:cubicBezTo>
                  <a:lnTo>
                    <a:pt x="38646" y="261221"/>
                  </a:lnTo>
                  <a:cubicBezTo>
                    <a:pt x="17302" y="261221"/>
                    <a:pt x="0" y="243918"/>
                    <a:pt x="0" y="222575"/>
                  </a:cubicBezTo>
                  <a:lnTo>
                    <a:pt x="0" y="38646"/>
                  </a:lnTo>
                  <a:cubicBezTo>
                    <a:pt x="0" y="28396"/>
                    <a:pt x="4072" y="18566"/>
                    <a:pt x="11319" y="11319"/>
                  </a:cubicBezTo>
                  <a:cubicBezTo>
                    <a:pt x="18566" y="4072"/>
                    <a:pt x="28396" y="0"/>
                    <a:pt x="38646" y="0"/>
                  </a:cubicBezTo>
                  <a:close/>
                </a:path>
              </a:pathLst>
            </a:custGeom>
            <a:solidFill>
              <a:srgbClr val="F1F1F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979405" cy="2993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082158" y="7895839"/>
            <a:ext cx="3405634" cy="1376973"/>
            <a:chOff x="0" y="0"/>
            <a:chExt cx="979405" cy="39599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979405" cy="395995"/>
            </a:xfrm>
            <a:custGeom>
              <a:avLst/>
              <a:gdLst/>
              <a:ahLst/>
              <a:cxnLst/>
              <a:rect l="l" t="t" r="r" b="b"/>
              <a:pathLst>
                <a:path w="979405" h="395995">
                  <a:moveTo>
                    <a:pt x="38646" y="0"/>
                  </a:moveTo>
                  <a:lnTo>
                    <a:pt x="940759" y="0"/>
                  </a:lnTo>
                  <a:cubicBezTo>
                    <a:pt x="951008" y="0"/>
                    <a:pt x="960838" y="4072"/>
                    <a:pt x="968086" y="11319"/>
                  </a:cubicBezTo>
                  <a:cubicBezTo>
                    <a:pt x="975333" y="18566"/>
                    <a:pt x="979405" y="28396"/>
                    <a:pt x="979405" y="38646"/>
                  </a:cubicBezTo>
                  <a:lnTo>
                    <a:pt x="979405" y="357349"/>
                  </a:lnTo>
                  <a:cubicBezTo>
                    <a:pt x="979405" y="378693"/>
                    <a:pt x="962102" y="395995"/>
                    <a:pt x="940759" y="395995"/>
                  </a:cubicBezTo>
                  <a:lnTo>
                    <a:pt x="38646" y="395995"/>
                  </a:lnTo>
                  <a:cubicBezTo>
                    <a:pt x="28396" y="395995"/>
                    <a:pt x="18566" y="391923"/>
                    <a:pt x="11319" y="384676"/>
                  </a:cubicBezTo>
                  <a:cubicBezTo>
                    <a:pt x="4072" y="377428"/>
                    <a:pt x="0" y="367599"/>
                    <a:pt x="0" y="357349"/>
                  </a:cubicBezTo>
                  <a:lnTo>
                    <a:pt x="0" y="38646"/>
                  </a:lnTo>
                  <a:cubicBezTo>
                    <a:pt x="0" y="28396"/>
                    <a:pt x="4072" y="18566"/>
                    <a:pt x="11319" y="11319"/>
                  </a:cubicBezTo>
                  <a:cubicBezTo>
                    <a:pt x="18566" y="4072"/>
                    <a:pt x="28396" y="0"/>
                    <a:pt x="38646" y="0"/>
                  </a:cubicBezTo>
                  <a:close/>
                </a:path>
              </a:pathLst>
            </a:custGeom>
            <a:solidFill>
              <a:srgbClr val="F1F1F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979405" cy="4340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142832" y="7822794"/>
            <a:ext cx="1673561" cy="1673561"/>
            <a:chOff x="0" y="0"/>
            <a:chExt cx="812800" cy="8128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3087142" y="6747331"/>
            <a:ext cx="3405634" cy="2510969"/>
            <a:chOff x="0" y="0"/>
            <a:chExt cx="979405" cy="72211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79405" cy="722113"/>
            </a:xfrm>
            <a:custGeom>
              <a:avLst/>
              <a:gdLst/>
              <a:ahLst/>
              <a:cxnLst/>
              <a:rect l="l" t="t" r="r" b="b"/>
              <a:pathLst>
                <a:path w="979405" h="722113">
                  <a:moveTo>
                    <a:pt x="38646" y="0"/>
                  </a:moveTo>
                  <a:lnTo>
                    <a:pt x="940759" y="0"/>
                  </a:lnTo>
                  <a:cubicBezTo>
                    <a:pt x="951008" y="0"/>
                    <a:pt x="960838" y="4072"/>
                    <a:pt x="968086" y="11319"/>
                  </a:cubicBezTo>
                  <a:cubicBezTo>
                    <a:pt x="975333" y="18566"/>
                    <a:pt x="979405" y="28396"/>
                    <a:pt x="979405" y="38646"/>
                  </a:cubicBezTo>
                  <a:lnTo>
                    <a:pt x="979405" y="683468"/>
                  </a:lnTo>
                  <a:cubicBezTo>
                    <a:pt x="979405" y="704811"/>
                    <a:pt x="962102" y="722113"/>
                    <a:pt x="940759" y="722113"/>
                  </a:cubicBezTo>
                  <a:lnTo>
                    <a:pt x="38646" y="722113"/>
                  </a:lnTo>
                  <a:cubicBezTo>
                    <a:pt x="28396" y="722113"/>
                    <a:pt x="18566" y="718042"/>
                    <a:pt x="11319" y="710794"/>
                  </a:cubicBezTo>
                  <a:cubicBezTo>
                    <a:pt x="4072" y="703547"/>
                    <a:pt x="0" y="693717"/>
                    <a:pt x="0" y="683468"/>
                  </a:cubicBezTo>
                  <a:lnTo>
                    <a:pt x="0" y="38646"/>
                  </a:lnTo>
                  <a:cubicBezTo>
                    <a:pt x="0" y="28396"/>
                    <a:pt x="4072" y="18566"/>
                    <a:pt x="11319" y="11319"/>
                  </a:cubicBezTo>
                  <a:cubicBezTo>
                    <a:pt x="18566" y="4072"/>
                    <a:pt x="28396" y="0"/>
                    <a:pt x="38646" y="0"/>
                  </a:cubicBezTo>
                  <a:close/>
                </a:path>
              </a:pathLst>
            </a:custGeom>
            <a:solidFill>
              <a:srgbClr val="F1F1F1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979405" cy="7602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4" name="Freeform 24"/>
          <p:cNvSpPr/>
          <p:nvPr/>
        </p:nvSpPr>
        <p:spPr>
          <a:xfrm>
            <a:off x="16875807" y="1480173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5" name="Freeform 25"/>
          <p:cNvSpPr/>
          <p:nvPr/>
        </p:nvSpPr>
        <p:spPr>
          <a:xfrm>
            <a:off x="61722" y="8808782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7" y="0"/>
                </a:lnTo>
                <a:lnTo>
                  <a:pt x="1766867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26" name="Group 26"/>
          <p:cNvGrpSpPr/>
          <p:nvPr/>
        </p:nvGrpSpPr>
        <p:grpSpPr>
          <a:xfrm>
            <a:off x="-17259300" y="-1690561"/>
            <a:ext cx="17966065" cy="12844173"/>
            <a:chOff x="0" y="0"/>
            <a:chExt cx="4731803" cy="338282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731803" cy="3382827"/>
            </a:xfrm>
            <a:custGeom>
              <a:avLst/>
              <a:gdLst/>
              <a:ahLst/>
              <a:cxnLst/>
              <a:rect l="l" t="t" r="r" b="b"/>
              <a:pathLst>
                <a:path w="4731803" h="3382827">
                  <a:moveTo>
                    <a:pt x="21977" y="0"/>
                  </a:moveTo>
                  <a:lnTo>
                    <a:pt x="4709826" y="0"/>
                  </a:lnTo>
                  <a:cubicBezTo>
                    <a:pt x="4715655" y="0"/>
                    <a:pt x="4721245" y="2315"/>
                    <a:pt x="4725366" y="6437"/>
                  </a:cubicBezTo>
                  <a:cubicBezTo>
                    <a:pt x="4729488" y="10558"/>
                    <a:pt x="4731803" y="16148"/>
                    <a:pt x="4731803" y="21977"/>
                  </a:cubicBezTo>
                  <a:lnTo>
                    <a:pt x="4731803" y="3360850"/>
                  </a:lnTo>
                  <a:cubicBezTo>
                    <a:pt x="4731803" y="3366679"/>
                    <a:pt x="4729488" y="3372269"/>
                    <a:pt x="4725366" y="3376390"/>
                  </a:cubicBezTo>
                  <a:cubicBezTo>
                    <a:pt x="4721245" y="3380512"/>
                    <a:pt x="4715655" y="3382827"/>
                    <a:pt x="4709826" y="3382827"/>
                  </a:cubicBezTo>
                  <a:lnTo>
                    <a:pt x="21977" y="3382827"/>
                  </a:lnTo>
                  <a:cubicBezTo>
                    <a:pt x="16148" y="3382827"/>
                    <a:pt x="10558" y="3380512"/>
                    <a:pt x="6437" y="3376390"/>
                  </a:cubicBezTo>
                  <a:cubicBezTo>
                    <a:pt x="2315" y="3372269"/>
                    <a:pt x="0" y="3366679"/>
                    <a:pt x="0" y="3360850"/>
                  </a:cubicBezTo>
                  <a:lnTo>
                    <a:pt x="0" y="21977"/>
                  </a:lnTo>
                  <a:cubicBezTo>
                    <a:pt x="0" y="16148"/>
                    <a:pt x="2315" y="10558"/>
                    <a:pt x="6437" y="6437"/>
                  </a:cubicBezTo>
                  <a:cubicBezTo>
                    <a:pt x="10558" y="2315"/>
                    <a:pt x="16148" y="0"/>
                    <a:pt x="21977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3ED56">
                    <a:alpha val="100000"/>
                  </a:srgbClr>
                </a:gs>
                <a:gs pos="100000">
                  <a:srgbClr val="E4832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4731803" cy="3420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 rot="2599173">
            <a:off x="10298209" y="4477172"/>
            <a:ext cx="973532" cy="897475"/>
          </a:xfrm>
          <a:custGeom>
            <a:avLst/>
            <a:gdLst/>
            <a:ahLst/>
            <a:cxnLst/>
            <a:rect l="l" t="t" r="r" b="b"/>
            <a:pathLst>
              <a:path w="973532" h="897475">
                <a:moveTo>
                  <a:pt x="0" y="0"/>
                </a:moveTo>
                <a:lnTo>
                  <a:pt x="973532" y="0"/>
                </a:lnTo>
                <a:lnTo>
                  <a:pt x="973532" y="897475"/>
                </a:lnTo>
                <a:lnTo>
                  <a:pt x="0" y="89747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0" name="Freeform 30"/>
          <p:cNvSpPr/>
          <p:nvPr/>
        </p:nvSpPr>
        <p:spPr>
          <a:xfrm rot="2599173">
            <a:off x="17364964" y="7284684"/>
            <a:ext cx="382567" cy="352679"/>
          </a:xfrm>
          <a:custGeom>
            <a:avLst/>
            <a:gdLst/>
            <a:ahLst/>
            <a:cxnLst/>
            <a:rect l="l" t="t" r="r" b="b"/>
            <a:pathLst>
              <a:path w="382567" h="352679">
                <a:moveTo>
                  <a:pt x="0" y="0"/>
                </a:moveTo>
                <a:lnTo>
                  <a:pt x="382566" y="0"/>
                </a:lnTo>
                <a:lnTo>
                  <a:pt x="382566" y="352678"/>
                </a:lnTo>
                <a:lnTo>
                  <a:pt x="0" y="35267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31" name="TextBox 31"/>
          <p:cNvSpPr txBox="1"/>
          <p:nvPr/>
        </p:nvSpPr>
        <p:spPr>
          <a:xfrm>
            <a:off x="2260365" y="3150142"/>
            <a:ext cx="7862605" cy="1567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888"/>
              </a:lnSpc>
            </a:pPr>
            <a:r>
              <a:rPr lang="en-US" sz="9206" b="1" spc="-644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Público al que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260365" y="4224888"/>
            <a:ext cx="5933052" cy="1956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37"/>
              </a:lnSpc>
            </a:pPr>
            <a:r>
              <a:rPr lang="en-US" sz="11455" b="1" spc="-801">
                <a:solidFill>
                  <a:srgbClr val="996C9C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atiende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448766" y="6857315"/>
            <a:ext cx="3033317" cy="217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59"/>
              </a:lnSpc>
            </a:pPr>
            <a:r>
              <a:rPr lang="en-US" sz="3113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Estudiantes de nivel medio superior y superior. 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925035" y="6980849"/>
            <a:ext cx="2648021" cy="1626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59"/>
              </a:lnSpc>
            </a:pPr>
            <a:r>
              <a:rPr lang="en-US" sz="3113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Docentes y personal académico.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504791" y="6845755"/>
            <a:ext cx="2774310" cy="2187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359"/>
              </a:lnSpc>
            </a:pPr>
            <a:r>
              <a:rPr lang="en-US" sz="3113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Servicios académicos, educativos y tecnológicos.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448521" y="6909111"/>
            <a:ext cx="2648021" cy="527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59"/>
              </a:lnSpc>
            </a:pPr>
            <a:r>
              <a:rPr lang="en-US" sz="3113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15 a 30 años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460965" y="8017160"/>
            <a:ext cx="2648021" cy="107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59"/>
              </a:lnSpc>
            </a:pPr>
            <a:r>
              <a:rPr lang="en-US" sz="3113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Medio y medio-bajo.</a:t>
            </a:r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1549986" y="0"/>
            <a:ext cx="6858000" cy="10287000"/>
            <a:chOff x="0" y="0"/>
            <a:chExt cx="6350000" cy="9525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50000" cy="9525000"/>
            </a:xfrm>
            <a:custGeom>
              <a:avLst/>
              <a:gdLst/>
              <a:ahLst/>
              <a:cxnLst/>
              <a:rect l="l" t="t" r="r" b="b"/>
              <a:pathLst>
                <a:path w="6350000" h="9525000">
                  <a:moveTo>
                    <a:pt x="0" y="9042400"/>
                  </a:moveTo>
                  <a:lnTo>
                    <a:pt x="0" y="482600"/>
                  </a:lnTo>
                  <a:cubicBezTo>
                    <a:pt x="0" y="215900"/>
                    <a:pt x="215900" y="0"/>
                    <a:pt x="482600" y="0"/>
                  </a:cubicBezTo>
                  <a:lnTo>
                    <a:pt x="5867400" y="0"/>
                  </a:lnTo>
                  <a:cubicBezTo>
                    <a:pt x="6134100" y="0"/>
                    <a:pt x="6350000" y="217170"/>
                    <a:pt x="6350000" y="482600"/>
                  </a:cubicBezTo>
                  <a:lnTo>
                    <a:pt x="6350000" y="9042400"/>
                  </a:lnTo>
                  <a:cubicBezTo>
                    <a:pt x="6350000" y="9309100"/>
                    <a:pt x="6134100" y="9525000"/>
                    <a:pt x="5867400" y="9525000"/>
                  </a:cubicBezTo>
                  <a:lnTo>
                    <a:pt x="482600" y="9525000"/>
                  </a:lnTo>
                  <a:cubicBezTo>
                    <a:pt x="217170" y="9525000"/>
                    <a:pt x="0" y="9309100"/>
                    <a:pt x="0" y="9042400"/>
                  </a:cubicBezTo>
                  <a:close/>
                </a:path>
              </a:pathLst>
            </a:custGeom>
            <a:blipFill>
              <a:blip r:embed="rId2"/>
              <a:stretch>
                <a:fillRect l="-85347" r="-39447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7645944" y="-1278586"/>
            <a:ext cx="3352813" cy="12844173"/>
            <a:chOff x="0" y="0"/>
            <a:chExt cx="883046" cy="3382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83046" cy="3382827"/>
            </a:xfrm>
            <a:custGeom>
              <a:avLst/>
              <a:gdLst/>
              <a:ahLst/>
              <a:cxnLst/>
              <a:rect l="l" t="t" r="r" b="b"/>
              <a:pathLst>
                <a:path w="883046" h="3382827">
                  <a:moveTo>
                    <a:pt x="117763" y="0"/>
                  </a:moveTo>
                  <a:lnTo>
                    <a:pt x="765282" y="0"/>
                  </a:lnTo>
                  <a:cubicBezTo>
                    <a:pt x="830321" y="0"/>
                    <a:pt x="883046" y="52724"/>
                    <a:pt x="883046" y="117763"/>
                  </a:cubicBezTo>
                  <a:lnTo>
                    <a:pt x="883046" y="3265064"/>
                  </a:lnTo>
                  <a:cubicBezTo>
                    <a:pt x="883046" y="3296297"/>
                    <a:pt x="870638" y="3326250"/>
                    <a:pt x="848554" y="3348335"/>
                  </a:cubicBezTo>
                  <a:cubicBezTo>
                    <a:pt x="826469" y="3370420"/>
                    <a:pt x="796515" y="3382827"/>
                    <a:pt x="765282" y="3382827"/>
                  </a:cubicBezTo>
                  <a:lnTo>
                    <a:pt x="117763" y="3382827"/>
                  </a:lnTo>
                  <a:cubicBezTo>
                    <a:pt x="52724" y="3382827"/>
                    <a:pt x="0" y="3330103"/>
                    <a:pt x="0" y="3265064"/>
                  </a:cubicBezTo>
                  <a:lnTo>
                    <a:pt x="0" y="117763"/>
                  </a:lnTo>
                  <a:cubicBezTo>
                    <a:pt x="0" y="52724"/>
                    <a:pt x="52724" y="0"/>
                    <a:pt x="117763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3ED56">
                    <a:alpha val="100000"/>
                  </a:srgbClr>
                </a:gs>
                <a:gs pos="100000">
                  <a:srgbClr val="E4832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883046" cy="3420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35148" y="3083180"/>
            <a:ext cx="2138034" cy="2138034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28650" cap="sq">
              <a:gradFill>
                <a:gsLst>
                  <a:gs pos="0">
                    <a:srgbClr val="C3ED56">
                      <a:alpha val="100000"/>
                    </a:srgbClr>
                  </a:gs>
                  <a:gs pos="100000">
                    <a:srgbClr val="E48321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1636" y="4023349"/>
            <a:ext cx="3479833" cy="2240303"/>
            <a:chOff x="0" y="0"/>
            <a:chExt cx="916499" cy="59003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6499" cy="590039"/>
            </a:xfrm>
            <a:custGeom>
              <a:avLst/>
              <a:gdLst/>
              <a:ahLst/>
              <a:cxnLst/>
              <a:rect l="l" t="t" r="r" b="b"/>
              <a:pathLst>
                <a:path w="916499" h="590039">
                  <a:moveTo>
                    <a:pt x="48946" y="0"/>
                  </a:moveTo>
                  <a:lnTo>
                    <a:pt x="867554" y="0"/>
                  </a:lnTo>
                  <a:cubicBezTo>
                    <a:pt x="894586" y="0"/>
                    <a:pt x="916499" y="21914"/>
                    <a:pt x="916499" y="48946"/>
                  </a:cubicBezTo>
                  <a:lnTo>
                    <a:pt x="916499" y="541093"/>
                  </a:lnTo>
                  <a:cubicBezTo>
                    <a:pt x="916499" y="568125"/>
                    <a:pt x="894586" y="590039"/>
                    <a:pt x="867554" y="590039"/>
                  </a:cubicBezTo>
                  <a:lnTo>
                    <a:pt x="48946" y="590039"/>
                  </a:lnTo>
                  <a:cubicBezTo>
                    <a:pt x="21914" y="590039"/>
                    <a:pt x="0" y="568125"/>
                    <a:pt x="0" y="541093"/>
                  </a:cubicBezTo>
                  <a:lnTo>
                    <a:pt x="0" y="48946"/>
                  </a:lnTo>
                  <a:cubicBezTo>
                    <a:pt x="0" y="21914"/>
                    <a:pt x="21914" y="0"/>
                    <a:pt x="48946" y="0"/>
                  </a:cubicBezTo>
                  <a:close/>
                </a:path>
              </a:pathLst>
            </a:custGeom>
            <a:solidFill>
              <a:srgbClr val="996C9C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16499" cy="6281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827499" y="210847"/>
            <a:ext cx="9931913" cy="34047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31"/>
              </a:lnSpc>
            </a:pPr>
            <a:r>
              <a:rPr lang="en-US" sz="9808" b="1" spc="-68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Servicios que presta la empresa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4531323" y="3980474"/>
            <a:ext cx="3393970" cy="2240303"/>
            <a:chOff x="0" y="0"/>
            <a:chExt cx="893885" cy="59003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93885" cy="590039"/>
            </a:xfrm>
            <a:custGeom>
              <a:avLst/>
              <a:gdLst/>
              <a:ahLst/>
              <a:cxnLst/>
              <a:rect l="l" t="t" r="r" b="b"/>
              <a:pathLst>
                <a:path w="893885" h="590039">
                  <a:moveTo>
                    <a:pt x="50184" y="0"/>
                  </a:moveTo>
                  <a:lnTo>
                    <a:pt x="843701" y="0"/>
                  </a:lnTo>
                  <a:cubicBezTo>
                    <a:pt x="871417" y="0"/>
                    <a:pt x="893885" y="22468"/>
                    <a:pt x="893885" y="50184"/>
                  </a:cubicBezTo>
                  <a:lnTo>
                    <a:pt x="893885" y="539855"/>
                  </a:lnTo>
                  <a:cubicBezTo>
                    <a:pt x="893885" y="553164"/>
                    <a:pt x="888598" y="565929"/>
                    <a:pt x="879187" y="575340"/>
                  </a:cubicBezTo>
                  <a:cubicBezTo>
                    <a:pt x="869775" y="584751"/>
                    <a:pt x="857011" y="590039"/>
                    <a:pt x="843701" y="590039"/>
                  </a:cubicBezTo>
                  <a:lnTo>
                    <a:pt x="50184" y="590039"/>
                  </a:lnTo>
                  <a:cubicBezTo>
                    <a:pt x="36874" y="590039"/>
                    <a:pt x="24110" y="584751"/>
                    <a:pt x="14698" y="575340"/>
                  </a:cubicBezTo>
                  <a:cubicBezTo>
                    <a:pt x="5287" y="565929"/>
                    <a:pt x="0" y="553164"/>
                    <a:pt x="0" y="539855"/>
                  </a:cubicBezTo>
                  <a:lnTo>
                    <a:pt x="0" y="50184"/>
                  </a:lnTo>
                  <a:cubicBezTo>
                    <a:pt x="0" y="36874"/>
                    <a:pt x="5287" y="24110"/>
                    <a:pt x="14698" y="14698"/>
                  </a:cubicBezTo>
                  <a:cubicBezTo>
                    <a:pt x="24110" y="5287"/>
                    <a:pt x="36874" y="0"/>
                    <a:pt x="50184" y="0"/>
                  </a:cubicBezTo>
                  <a:close/>
                </a:path>
              </a:pathLst>
            </a:custGeom>
            <a:solidFill>
              <a:srgbClr val="F2CB4F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893885" cy="6281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-296541" y="8571620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7" y="0"/>
                </a:lnTo>
                <a:lnTo>
                  <a:pt x="1766867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>
            <a:off x="8915331" y="1034117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9" name="Group 19"/>
          <p:cNvGrpSpPr/>
          <p:nvPr/>
        </p:nvGrpSpPr>
        <p:grpSpPr>
          <a:xfrm>
            <a:off x="-1086669" y="6262692"/>
            <a:ext cx="1673561" cy="1673561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955556" y="9608854"/>
            <a:ext cx="2843208" cy="2843208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rot="2599173">
            <a:off x="5895202" y="2126596"/>
            <a:ext cx="565249" cy="521089"/>
          </a:xfrm>
          <a:custGeom>
            <a:avLst/>
            <a:gdLst/>
            <a:ahLst/>
            <a:cxnLst/>
            <a:rect l="l" t="t" r="r" b="b"/>
            <a:pathLst>
              <a:path w="565249" h="521089">
                <a:moveTo>
                  <a:pt x="0" y="0"/>
                </a:moveTo>
                <a:lnTo>
                  <a:pt x="565249" y="0"/>
                </a:lnTo>
                <a:lnTo>
                  <a:pt x="565249" y="521089"/>
                </a:lnTo>
                <a:lnTo>
                  <a:pt x="0" y="52108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26" name="Group 26"/>
          <p:cNvGrpSpPr/>
          <p:nvPr/>
        </p:nvGrpSpPr>
        <p:grpSpPr>
          <a:xfrm>
            <a:off x="827499" y="6673226"/>
            <a:ext cx="3479833" cy="2240303"/>
            <a:chOff x="0" y="0"/>
            <a:chExt cx="916499" cy="59003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916499" cy="590039"/>
            </a:xfrm>
            <a:custGeom>
              <a:avLst/>
              <a:gdLst/>
              <a:ahLst/>
              <a:cxnLst/>
              <a:rect l="l" t="t" r="r" b="b"/>
              <a:pathLst>
                <a:path w="916499" h="590039">
                  <a:moveTo>
                    <a:pt x="48946" y="0"/>
                  </a:moveTo>
                  <a:lnTo>
                    <a:pt x="867554" y="0"/>
                  </a:lnTo>
                  <a:cubicBezTo>
                    <a:pt x="894586" y="0"/>
                    <a:pt x="916499" y="21914"/>
                    <a:pt x="916499" y="48946"/>
                  </a:cubicBezTo>
                  <a:lnTo>
                    <a:pt x="916499" y="541093"/>
                  </a:lnTo>
                  <a:cubicBezTo>
                    <a:pt x="916499" y="568125"/>
                    <a:pt x="894586" y="590039"/>
                    <a:pt x="867554" y="590039"/>
                  </a:cubicBezTo>
                  <a:lnTo>
                    <a:pt x="48946" y="590039"/>
                  </a:lnTo>
                  <a:cubicBezTo>
                    <a:pt x="21914" y="590039"/>
                    <a:pt x="0" y="568125"/>
                    <a:pt x="0" y="541093"/>
                  </a:cubicBezTo>
                  <a:lnTo>
                    <a:pt x="0" y="48946"/>
                  </a:lnTo>
                  <a:cubicBezTo>
                    <a:pt x="0" y="21914"/>
                    <a:pt x="21914" y="0"/>
                    <a:pt x="48946" y="0"/>
                  </a:cubicBezTo>
                  <a:close/>
                </a:path>
              </a:pathLst>
            </a:custGeom>
            <a:solidFill>
              <a:srgbClr val="A2BB5A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916499" cy="6281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4581442" y="6673226"/>
            <a:ext cx="3393970" cy="2240303"/>
            <a:chOff x="0" y="0"/>
            <a:chExt cx="893885" cy="59003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93885" cy="590039"/>
            </a:xfrm>
            <a:custGeom>
              <a:avLst/>
              <a:gdLst/>
              <a:ahLst/>
              <a:cxnLst/>
              <a:rect l="l" t="t" r="r" b="b"/>
              <a:pathLst>
                <a:path w="893885" h="590039">
                  <a:moveTo>
                    <a:pt x="50184" y="0"/>
                  </a:moveTo>
                  <a:lnTo>
                    <a:pt x="843701" y="0"/>
                  </a:lnTo>
                  <a:cubicBezTo>
                    <a:pt x="871417" y="0"/>
                    <a:pt x="893885" y="22468"/>
                    <a:pt x="893885" y="50184"/>
                  </a:cubicBezTo>
                  <a:lnTo>
                    <a:pt x="893885" y="539855"/>
                  </a:lnTo>
                  <a:cubicBezTo>
                    <a:pt x="893885" y="553164"/>
                    <a:pt x="888598" y="565929"/>
                    <a:pt x="879187" y="575340"/>
                  </a:cubicBezTo>
                  <a:cubicBezTo>
                    <a:pt x="869775" y="584751"/>
                    <a:pt x="857011" y="590039"/>
                    <a:pt x="843701" y="590039"/>
                  </a:cubicBezTo>
                  <a:lnTo>
                    <a:pt x="50184" y="590039"/>
                  </a:lnTo>
                  <a:cubicBezTo>
                    <a:pt x="36874" y="590039"/>
                    <a:pt x="24110" y="584751"/>
                    <a:pt x="14698" y="575340"/>
                  </a:cubicBezTo>
                  <a:cubicBezTo>
                    <a:pt x="5287" y="565929"/>
                    <a:pt x="0" y="553164"/>
                    <a:pt x="0" y="539855"/>
                  </a:cubicBezTo>
                  <a:lnTo>
                    <a:pt x="0" y="50184"/>
                  </a:lnTo>
                  <a:cubicBezTo>
                    <a:pt x="0" y="36874"/>
                    <a:pt x="5287" y="24110"/>
                    <a:pt x="14698" y="14698"/>
                  </a:cubicBezTo>
                  <a:cubicBezTo>
                    <a:pt x="24110" y="5287"/>
                    <a:pt x="36874" y="0"/>
                    <a:pt x="50184" y="0"/>
                  </a:cubicBezTo>
                  <a:close/>
                </a:path>
              </a:pathLst>
            </a:custGeom>
            <a:solidFill>
              <a:srgbClr val="EB9338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38100"/>
              <a:ext cx="893885" cy="6281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213537" y="5185415"/>
            <a:ext cx="3393970" cy="2240303"/>
            <a:chOff x="0" y="0"/>
            <a:chExt cx="893885" cy="59003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93885" cy="590039"/>
            </a:xfrm>
            <a:custGeom>
              <a:avLst/>
              <a:gdLst/>
              <a:ahLst/>
              <a:cxnLst/>
              <a:rect l="l" t="t" r="r" b="b"/>
              <a:pathLst>
                <a:path w="893885" h="590039">
                  <a:moveTo>
                    <a:pt x="50184" y="0"/>
                  </a:moveTo>
                  <a:lnTo>
                    <a:pt x="843701" y="0"/>
                  </a:lnTo>
                  <a:cubicBezTo>
                    <a:pt x="871417" y="0"/>
                    <a:pt x="893885" y="22468"/>
                    <a:pt x="893885" y="50184"/>
                  </a:cubicBezTo>
                  <a:lnTo>
                    <a:pt x="893885" y="539855"/>
                  </a:lnTo>
                  <a:cubicBezTo>
                    <a:pt x="893885" y="553164"/>
                    <a:pt x="888598" y="565929"/>
                    <a:pt x="879187" y="575340"/>
                  </a:cubicBezTo>
                  <a:cubicBezTo>
                    <a:pt x="869775" y="584751"/>
                    <a:pt x="857011" y="590039"/>
                    <a:pt x="843701" y="590039"/>
                  </a:cubicBezTo>
                  <a:lnTo>
                    <a:pt x="50184" y="590039"/>
                  </a:lnTo>
                  <a:cubicBezTo>
                    <a:pt x="36874" y="590039"/>
                    <a:pt x="24110" y="584751"/>
                    <a:pt x="14698" y="575340"/>
                  </a:cubicBezTo>
                  <a:cubicBezTo>
                    <a:pt x="5287" y="565929"/>
                    <a:pt x="0" y="553164"/>
                    <a:pt x="0" y="539855"/>
                  </a:cubicBezTo>
                  <a:lnTo>
                    <a:pt x="0" y="50184"/>
                  </a:lnTo>
                  <a:cubicBezTo>
                    <a:pt x="0" y="36874"/>
                    <a:pt x="5287" y="24110"/>
                    <a:pt x="14698" y="14698"/>
                  </a:cubicBezTo>
                  <a:cubicBezTo>
                    <a:pt x="24110" y="5287"/>
                    <a:pt x="36874" y="0"/>
                    <a:pt x="50184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893885" cy="6281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028700" y="4253475"/>
            <a:ext cx="3016848" cy="15754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118" lvl="1" indent="-246559" algn="l">
              <a:lnSpc>
                <a:spcPts val="3197"/>
              </a:lnSpc>
              <a:buAutoNum type="arabicPeriod"/>
            </a:pPr>
            <a:r>
              <a:rPr lang="en-US" sz="228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Desarrollo de contenidos digitales educativos.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621118" y="4070038"/>
            <a:ext cx="3083924" cy="19269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22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2.  Implementación de soluciones tecnológicas para instituciones académicas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55538" y="6924899"/>
            <a:ext cx="2890010" cy="1646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685"/>
              </a:lnSpc>
            </a:pPr>
            <a:r>
              <a:rPr lang="en-US" sz="1918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3. Capacitación docente y estudiantil en herramientas digitales y plataformas escolares.</a:t>
            </a:r>
          </a:p>
          <a:p>
            <a:pPr algn="l">
              <a:lnSpc>
                <a:spcPts val="2685"/>
              </a:lnSpc>
            </a:pPr>
            <a:endParaRPr lang="en-US" sz="1918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664050" y="7089947"/>
            <a:ext cx="3311362" cy="1546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37"/>
              </a:lnSpc>
            </a:pPr>
            <a:r>
              <a:rPr lang="en-US" sz="2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4. Consultoría en transformación digital educativa.</a:t>
            </a:r>
          </a:p>
          <a:p>
            <a:pPr algn="l">
              <a:lnSpc>
                <a:spcPts val="3137"/>
              </a:lnSpc>
            </a:pPr>
            <a:endParaRPr lang="en-US" sz="2240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8295088" y="5531019"/>
            <a:ext cx="3179224" cy="1568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83"/>
              </a:lnSpc>
            </a:pPr>
            <a:r>
              <a:rPr lang="en-US" sz="2273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5. Diseño gráfico institucional y multimedia educativa.</a:t>
            </a:r>
          </a:p>
          <a:p>
            <a:pPr algn="l">
              <a:lnSpc>
                <a:spcPts val="3183"/>
              </a:lnSpc>
            </a:pPr>
            <a:endParaRPr lang="en-US" sz="2273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480983" y="-494425"/>
            <a:ext cx="1183227" cy="1396886"/>
            <a:chOff x="0" y="0"/>
            <a:chExt cx="688479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88479" cy="812800"/>
            </a:xfrm>
            <a:custGeom>
              <a:avLst/>
              <a:gdLst/>
              <a:ahLst/>
              <a:cxnLst/>
              <a:rect l="l" t="t" r="r" b="b"/>
              <a:pathLst>
                <a:path w="688479" h="812800">
                  <a:moveTo>
                    <a:pt x="344240" y="0"/>
                  </a:moveTo>
                  <a:cubicBezTo>
                    <a:pt x="154121" y="0"/>
                    <a:pt x="0" y="181951"/>
                    <a:pt x="0" y="406400"/>
                  </a:cubicBezTo>
                  <a:cubicBezTo>
                    <a:pt x="0" y="630849"/>
                    <a:pt x="154121" y="812800"/>
                    <a:pt x="344240" y="812800"/>
                  </a:cubicBezTo>
                  <a:cubicBezTo>
                    <a:pt x="534358" y="812800"/>
                    <a:pt x="688479" y="630849"/>
                    <a:pt x="688479" y="406400"/>
                  </a:cubicBezTo>
                  <a:cubicBezTo>
                    <a:pt x="688479" y="181951"/>
                    <a:pt x="534358" y="0"/>
                    <a:pt x="344240" y="0"/>
                  </a:cubicBezTo>
                  <a:close/>
                </a:path>
              </a:pathLst>
            </a:custGeom>
            <a:solidFill>
              <a:srgbClr val="E99136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4545" y="38100"/>
              <a:ext cx="559389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985722" y="6541963"/>
            <a:ext cx="1396886" cy="1396886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3ED56">
                    <a:alpha val="100000"/>
                  </a:srgbClr>
                </a:gs>
                <a:gs pos="100000">
                  <a:srgbClr val="E4832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97194" y="1612177"/>
            <a:ext cx="9498115" cy="33625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459"/>
              </a:lnSpc>
            </a:pPr>
            <a:r>
              <a:rPr lang="en-US" sz="3185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Brindar soluciones tecnológicas, visuales y pedagógicas que faciliten el acceso, comprensión y aprovechamiento de herramientas digitales dentro del entorno académico, impulsando la innovación educativa en todos los niveles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397194" y="9528902"/>
            <a:ext cx="2843208" cy="2843208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-883433" y="4489895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Freeform 13"/>
          <p:cNvSpPr/>
          <p:nvPr/>
        </p:nvSpPr>
        <p:spPr>
          <a:xfrm rot="5400000">
            <a:off x="8597549" y="7890083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7" y="0"/>
                </a:lnTo>
                <a:lnTo>
                  <a:pt x="1766867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4" name="Group 14"/>
          <p:cNvGrpSpPr/>
          <p:nvPr/>
        </p:nvGrpSpPr>
        <p:grpSpPr>
          <a:xfrm>
            <a:off x="17645944" y="-1278586"/>
            <a:ext cx="3352813" cy="12844173"/>
            <a:chOff x="0" y="0"/>
            <a:chExt cx="883046" cy="338282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83046" cy="3382827"/>
            </a:xfrm>
            <a:custGeom>
              <a:avLst/>
              <a:gdLst/>
              <a:ahLst/>
              <a:cxnLst/>
              <a:rect l="l" t="t" r="r" b="b"/>
              <a:pathLst>
                <a:path w="883046" h="3382827">
                  <a:moveTo>
                    <a:pt x="117763" y="0"/>
                  </a:moveTo>
                  <a:lnTo>
                    <a:pt x="765282" y="0"/>
                  </a:lnTo>
                  <a:cubicBezTo>
                    <a:pt x="830321" y="0"/>
                    <a:pt x="883046" y="52724"/>
                    <a:pt x="883046" y="117763"/>
                  </a:cubicBezTo>
                  <a:lnTo>
                    <a:pt x="883046" y="3265064"/>
                  </a:lnTo>
                  <a:cubicBezTo>
                    <a:pt x="883046" y="3296297"/>
                    <a:pt x="870638" y="3326250"/>
                    <a:pt x="848554" y="3348335"/>
                  </a:cubicBezTo>
                  <a:cubicBezTo>
                    <a:pt x="826469" y="3370420"/>
                    <a:pt x="796515" y="3382827"/>
                    <a:pt x="765282" y="3382827"/>
                  </a:cubicBezTo>
                  <a:lnTo>
                    <a:pt x="117763" y="3382827"/>
                  </a:lnTo>
                  <a:cubicBezTo>
                    <a:pt x="52724" y="3382827"/>
                    <a:pt x="0" y="3330103"/>
                    <a:pt x="0" y="3265064"/>
                  </a:cubicBezTo>
                  <a:lnTo>
                    <a:pt x="0" y="117763"/>
                  </a:lnTo>
                  <a:cubicBezTo>
                    <a:pt x="0" y="52724"/>
                    <a:pt x="52724" y="0"/>
                    <a:pt x="117763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883046" cy="3420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 rot="2599173">
            <a:off x="79660" y="8327970"/>
            <a:ext cx="635068" cy="585453"/>
          </a:xfrm>
          <a:custGeom>
            <a:avLst/>
            <a:gdLst/>
            <a:ahLst/>
            <a:cxnLst/>
            <a:rect l="l" t="t" r="r" b="b"/>
            <a:pathLst>
              <a:path w="635068" h="585453">
                <a:moveTo>
                  <a:pt x="0" y="0"/>
                </a:moveTo>
                <a:lnTo>
                  <a:pt x="635068" y="0"/>
                </a:lnTo>
                <a:lnTo>
                  <a:pt x="635068" y="585453"/>
                </a:lnTo>
                <a:lnTo>
                  <a:pt x="0" y="5854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>
            <a:off x="10492679" y="197860"/>
            <a:ext cx="7216549" cy="3668733"/>
          </a:xfrm>
          <a:custGeom>
            <a:avLst/>
            <a:gdLst/>
            <a:ahLst/>
            <a:cxnLst/>
            <a:rect l="l" t="t" r="r" b="b"/>
            <a:pathLst>
              <a:path w="7216549" h="3668733">
                <a:moveTo>
                  <a:pt x="0" y="0"/>
                </a:moveTo>
                <a:lnTo>
                  <a:pt x="7216549" y="0"/>
                </a:lnTo>
                <a:lnTo>
                  <a:pt x="7216549" y="3668733"/>
                </a:lnTo>
                <a:lnTo>
                  <a:pt x="0" y="36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34496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TextBox 19"/>
          <p:cNvSpPr txBox="1"/>
          <p:nvPr/>
        </p:nvSpPr>
        <p:spPr>
          <a:xfrm>
            <a:off x="417754" y="214353"/>
            <a:ext cx="4964854" cy="1242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5"/>
              </a:lnSpc>
            </a:pPr>
            <a:r>
              <a:rPr lang="en-US" sz="7318" b="1" spc="-512">
                <a:solidFill>
                  <a:srgbClr val="F2CB4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Misión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761185" y="5070213"/>
            <a:ext cx="4964854" cy="1242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5"/>
              </a:lnSpc>
            </a:pPr>
            <a:r>
              <a:rPr lang="en-US" sz="7318" b="1" spc="-512">
                <a:solidFill>
                  <a:srgbClr val="A2BB5A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Visión 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761185" y="6475288"/>
            <a:ext cx="9498115" cy="33625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459"/>
              </a:lnSpc>
            </a:pPr>
            <a:r>
              <a:rPr lang="en-US" sz="3185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Ser una empresa líder en el desarrollo de contenido educativo digital en México, reconocida por su creatividad, compromiso académico y calidad tecnológica, fortaleciendo la conexión entre educación y tecnología.</a:t>
            </a:r>
          </a:p>
          <a:p>
            <a:pPr algn="just">
              <a:lnSpc>
                <a:spcPts val="4459"/>
              </a:lnSpc>
            </a:pPr>
            <a:endParaRPr lang="en-US" sz="3185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97986" y="1242475"/>
            <a:ext cx="4687696" cy="1116094"/>
            <a:chOff x="0" y="0"/>
            <a:chExt cx="6250261" cy="1488125"/>
          </a:xfrm>
        </p:grpSpPr>
        <p:sp>
          <p:nvSpPr>
            <p:cNvPr id="3" name="TextBox 3"/>
            <p:cNvSpPr txBox="1"/>
            <p:nvPr/>
          </p:nvSpPr>
          <p:spPr>
            <a:xfrm>
              <a:off x="0" y="-142874"/>
              <a:ext cx="3489271" cy="16309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0301"/>
                </a:lnSpc>
              </a:pPr>
              <a:r>
                <a:rPr lang="en-US" sz="7358" b="1" spc="-515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Me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755285" y="-142875"/>
              <a:ext cx="4494977" cy="16310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0301"/>
                </a:lnSpc>
              </a:pPr>
              <a:r>
                <a:rPr lang="en-US" sz="7357" b="1" spc="-515">
                  <a:solidFill>
                    <a:srgbClr val="A2BB5A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tas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7259300" y="-1690561"/>
            <a:ext cx="17966065" cy="12844173"/>
            <a:chOff x="0" y="0"/>
            <a:chExt cx="4731803" cy="338282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731803" cy="3382827"/>
            </a:xfrm>
            <a:custGeom>
              <a:avLst/>
              <a:gdLst/>
              <a:ahLst/>
              <a:cxnLst/>
              <a:rect l="l" t="t" r="r" b="b"/>
              <a:pathLst>
                <a:path w="4731803" h="3382827">
                  <a:moveTo>
                    <a:pt x="21977" y="0"/>
                  </a:moveTo>
                  <a:lnTo>
                    <a:pt x="4709826" y="0"/>
                  </a:lnTo>
                  <a:cubicBezTo>
                    <a:pt x="4715655" y="0"/>
                    <a:pt x="4721245" y="2315"/>
                    <a:pt x="4725366" y="6437"/>
                  </a:cubicBezTo>
                  <a:cubicBezTo>
                    <a:pt x="4729488" y="10558"/>
                    <a:pt x="4731803" y="16148"/>
                    <a:pt x="4731803" y="21977"/>
                  </a:cubicBezTo>
                  <a:lnTo>
                    <a:pt x="4731803" y="3360850"/>
                  </a:lnTo>
                  <a:cubicBezTo>
                    <a:pt x="4731803" y="3366679"/>
                    <a:pt x="4729488" y="3372269"/>
                    <a:pt x="4725366" y="3376390"/>
                  </a:cubicBezTo>
                  <a:cubicBezTo>
                    <a:pt x="4721245" y="3380512"/>
                    <a:pt x="4715655" y="3382827"/>
                    <a:pt x="4709826" y="3382827"/>
                  </a:cubicBezTo>
                  <a:lnTo>
                    <a:pt x="21977" y="3382827"/>
                  </a:lnTo>
                  <a:cubicBezTo>
                    <a:pt x="16148" y="3382827"/>
                    <a:pt x="10558" y="3380512"/>
                    <a:pt x="6437" y="3376390"/>
                  </a:cubicBezTo>
                  <a:cubicBezTo>
                    <a:pt x="2315" y="3372269"/>
                    <a:pt x="0" y="3366679"/>
                    <a:pt x="0" y="3360850"/>
                  </a:cubicBezTo>
                  <a:lnTo>
                    <a:pt x="0" y="21977"/>
                  </a:lnTo>
                  <a:cubicBezTo>
                    <a:pt x="0" y="16148"/>
                    <a:pt x="2315" y="10558"/>
                    <a:pt x="6437" y="6437"/>
                  </a:cubicBezTo>
                  <a:cubicBezTo>
                    <a:pt x="10558" y="2315"/>
                    <a:pt x="16148" y="0"/>
                    <a:pt x="21977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731803" cy="3420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4092036" y="-7723877"/>
            <a:ext cx="9529995" cy="9529995"/>
          </a:xfrm>
          <a:custGeom>
            <a:avLst/>
            <a:gdLst/>
            <a:ahLst/>
            <a:cxnLst/>
            <a:rect l="l" t="t" r="r" b="b"/>
            <a:pathLst>
              <a:path w="9529995" h="9529995">
                <a:moveTo>
                  <a:pt x="0" y="0"/>
                </a:moveTo>
                <a:lnTo>
                  <a:pt x="9529995" y="0"/>
                </a:lnTo>
                <a:lnTo>
                  <a:pt x="9529995" y="9529995"/>
                </a:lnTo>
                <a:lnTo>
                  <a:pt x="0" y="95299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>
            <a:off x="17259300" y="1034117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>
            <a:off x="935365" y="8773516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 rot="2599173">
            <a:off x="1142109" y="6955823"/>
            <a:ext cx="630036" cy="580815"/>
          </a:xfrm>
          <a:custGeom>
            <a:avLst/>
            <a:gdLst/>
            <a:ahLst/>
            <a:cxnLst/>
            <a:rect l="l" t="t" r="r" b="b"/>
            <a:pathLst>
              <a:path w="630036" h="580815">
                <a:moveTo>
                  <a:pt x="0" y="0"/>
                </a:moveTo>
                <a:lnTo>
                  <a:pt x="630036" y="0"/>
                </a:lnTo>
                <a:lnTo>
                  <a:pt x="630036" y="580815"/>
                </a:lnTo>
                <a:lnTo>
                  <a:pt x="0" y="5808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Freeform 12"/>
          <p:cNvSpPr/>
          <p:nvPr/>
        </p:nvSpPr>
        <p:spPr>
          <a:xfrm rot="2599173">
            <a:off x="17023247" y="7456025"/>
            <a:ext cx="472106" cy="435223"/>
          </a:xfrm>
          <a:custGeom>
            <a:avLst/>
            <a:gdLst/>
            <a:ahLst/>
            <a:cxnLst/>
            <a:rect l="l" t="t" r="r" b="b"/>
            <a:pathLst>
              <a:path w="472106" h="435223">
                <a:moveTo>
                  <a:pt x="0" y="0"/>
                </a:moveTo>
                <a:lnTo>
                  <a:pt x="472106" y="0"/>
                </a:lnTo>
                <a:lnTo>
                  <a:pt x="472106" y="435223"/>
                </a:lnTo>
                <a:lnTo>
                  <a:pt x="0" y="43522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3" name="TextBox 13"/>
          <p:cNvSpPr txBox="1"/>
          <p:nvPr/>
        </p:nvSpPr>
        <p:spPr>
          <a:xfrm>
            <a:off x="2477184" y="3183226"/>
            <a:ext cx="10251328" cy="5762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2032" lvl="1" indent="-356016" algn="l">
              <a:lnSpc>
                <a:spcPts val="4617"/>
              </a:lnSpc>
              <a:buFont typeface="Arial"/>
              <a:buChar char="•"/>
            </a:pPr>
            <a:r>
              <a:rPr lang="en-US" sz="3297">
                <a:solidFill>
                  <a:srgbClr val="996C9C"/>
                </a:solidFill>
                <a:latin typeface="Open Sauce"/>
                <a:ea typeface="Open Sauce"/>
                <a:cs typeface="Open Sauce"/>
                <a:sym typeface="Open Sauce"/>
              </a:rPr>
              <a:t>A corto plazo</a:t>
            </a:r>
            <a:r>
              <a:rPr lang="en-US" sz="329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: Consolidar alianzas con instituciones educativas locales para implementar materiales de capacitación.</a:t>
            </a:r>
          </a:p>
          <a:p>
            <a:pPr marL="712032" lvl="1" indent="-356016" algn="l">
              <a:lnSpc>
                <a:spcPts val="4617"/>
              </a:lnSpc>
              <a:buFont typeface="Arial"/>
              <a:buChar char="•"/>
            </a:pPr>
            <a:r>
              <a:rPr lang="en-US" sz="3297">
                <a:solidFill>
                  <a:srgbClr val="ECAD47"/>
                </a:solidFill>
                <a:latin typeface="Open Sauce"/>
                <a:ea typeface="Open Sauce"/>
                <a:cs typeface="Open Sauce"/>
                <a:sym typeface="Open Sauce"/>
              </a:rPr>
              <a:t>A mediano plazo</a:t>
            </a:r>
            <a:r>
              <a:rPr lang="en-US" sz="329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: Expandir los servicios digitales y ofrecer soluciones integradas (plataformas de aprendizaje y material interactivo).</a:t>
            </a:r>
          </a:p>
          <a:p>
            <a:pPr marL="712032" lvl="1" indent="-356016" algn="l">
              <a:lnSpc>
                <a:spcPts val="4617"/>
              </a:lnSpc>
              <a:buFont typeface="Arial"/>
              <a:buChar char="•"/>
            </a:pPr>
            <a:r>
              <a:rPr lang="en-US" sz="3297">
                <a:solidFill>
                  <a:srgbClr val="E99136"/>
                </a:solidFill>
                <a:latin typeface="Open Sauce"/>
                <a:ea typeface="Open Sauce"/>
                <a:cs typeface="Open Sauce"/>
                <a:sym typeface="Open Sauce"/>
              </a:rPr>
              <a:t>A largo plazo</a:t>
            </a:r>
            <a:r>
              <a:rPr lang="en-US" sz="329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: Posicionarse como un referente nacional en innovación educativa digital.</a:t>
            </a:r>
          </a:p>
          <a:p>
            <a:pPr algn="l">
              <a:lnSpc>
                <a:spcPts val="4617"/>
              </a:lnSpc>
            </a:pPr>
            <a:endParaRPr lang="en-US" sz="3297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14" name="Group 14"/>
          <p:cNvGrpSpPr/>
          <p:nvPr/>
        </p:nvGrpSpPr>
        <p:grpSpPr>
          <a:xfrm>
            <a:off x="13198205" y="279104"/>
            <a:ext cx="4382129" cy="5609125"/>
            <a:chOff x="0" y="0"/>
            <a:chExt cx="6350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35000" cy="812800"/>
            </a:xfrm>
            <a:custGeom>
              <a:avLst/>
              <a:gdLst/>
              <a:ahLst/>
              <a:cxnLst/>
              <a:rect l="l" t="t" r="r" b="b"/>
              <a:pathLst>
                <a:path w="635000" h="812800">
                  <a:moveTo>
                    <a:pt x="635000" y="0"/>
                  </a:moveTo>
                  <a:lnTo>
                    <a:pt x="635000" y="698500"/>
                  </a:lnTo>
                  <a:lnTo>
                    <a:pt x="317500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635000" y="0"/>
                  </a:lnTo>
                  <a:close/>
                </a:path>
              </a:pathLst>
            </a:custGeom>
            <a:blipFill>
              <a:blip r:embed="rId10"/>
              <a:stretch>
                <a:fillRect l="-45912" r="-45912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44132" y="938201"/>
            <a:ext cx="8015168" cy="8015168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597986" y="1944570"/>
            <a:ext cx="4964854" cy="1242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5"/>
              </a:lnSpc>
            </a:pPr>
            <a:r>
              <a:rPr lang="en-US" sz="7318" b="1" spc="-512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620003" y="1944613"/>
            <a:ext cx="4099425" cy="1242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7"/>
              </a:lnSpc>
            </a:pPr>
            <a:r>
              <a:rPr lang="en-US" sz="7319" b="1" spc="-512">
                <a:solidFill>
                  <a:srgbClr val="EB9338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tivos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-17259300" y="-1690561"/>
            <a:ext cx="17966065" cy="12844173"/>
            <a:chOff x="0" y="0"/>
            <a:chExt cx="4731803" cy="3382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731803" cy="3382827"/>
            </a:xfrm>
            <a:custGeom>
              <a:avLst/>
              <a:gdLst/>
              <a:ahLst/>
              <a:cxnLst/>
              <a:rect l="l" t="t" r="r" b="b"/>
              <a:pathLst>
                <a:path w="4731803" h="3382827">
                  <a:moveTo>
                    <a:pt x="21977" y="0"/>
                  </a:moveTo>
                  <a:lnTo>
                    <a:pt x="4709826" y="0"/>
                  </a:lnTo>
                  <a:cubicBezTo>
                    <a:pt x="4715655" y="0"/>
                    <a:pt x="4721245" y="2315"/>
                    <a:pt x="4725366" y="6437"/>
                  </a:cubicBezTo>
                  <a:cubicBezTo>
                    <a:pt x="4729488" y="10558"/>
                    <a:pt x="4731803" y="16148"/>
                    <a:pt x="4731803" y="21977"/>
                  </a:cubicBezTo>
                  <a:lnTo>
                    <a:pt x="4731803" y="3360850"/>
                  </a:lnTo>
                  <a:cubicBezTo>
                    <a:pt x="4731803" y="3366679"/>
                    <a:pt x="4729488" y="3372269"/>
                    <a:pt x="4725366" y="3376390"/>
                  </a:cubicBezTo>
                  <a:cubicBezTo>
                    <a:pt x="4721245" y="3380512"/>
                    <a:pt x="4715655" y="3382827"/>
                    <a:pt x="4709826" y="3382827"/>
                  </a:cubicBezTo>
                  <a:lnTo>
                    <a:pt x="21977" y="3382827"/>
                  </a:lnTo>
                  <a:cubicBezTo>
                    <a:pt x="16148" y="3382827"/>
                    <a:pt x="10558" y="3380512"/>
                    <a:pt x="6437" y="3376390"/>
                  </a:cubicBezTo>
                  <a:cubicBezTo>
                    <a:pt x="2315" y="3372269"/>
                    <a:pt x="0" y="3366679"/>
                    <a:pt x="0" y="3360850"/>
                  </a:cubicBezTo>
                  <a:lnTo>
                    <a:pt x="0" y="21977"/>
                  </a:lnTo>
                  <a:cubicBezTo>
                    <a:pt x="0" y="16148"/>
                    <a:pt x="2315" y="10558"/>
                    <a:pt x="6437" y="6437"/>
                  </a:cubicBezTo>
                  <a:cubicBezTo>
                    <a:pt x="10558" y="2315"/>
                    <a:pt x="16148" y="0"/>
                    <a:pt x="21977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3ED56">
                    <a:alpha val="100000"/>
                  </a:srgbClr>
                </a:gs>
                <a:gs pos="100000">
                  <a:srgbClr val="E4832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731803" cy="3420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666288" y="9217983"/>
            <a:ext cx="2138034" cy="2138034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28650" cap="sq">
              <a:gradFill>
                <a:gsLst>
                  <a:gs pos="0">
                    <a:srgbClr val="3972F0">
                      <a:alpha val="100000"/>
                    </a:srgbClr>
                  </a:gs>
                  <a:gs pos="100000">
                    <a:srgbClr val="1CDA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5492434" y="7876025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4" name="Freeform 14"/>
          <p:cNvSpPr/>
          <p:nvPr/>
        </p:nvSpPr>
        <p:spPr>
          <a:xfrm>
            <a:off x="7477266" y="1497656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 rot="2599173">
            <a:off x="16941766" y="6930382"/>
            <a:ext cx="635068" cy="585453"/>
          </a:xfrm>
          <a:custGeom>
            <a:avLst/>
            <a:gdLst/>
            <a:ahLst/>
            <a:cxnLst/>
            <a:rect l="l" t="t" r="r" b="b"/>
            <a:pathLst>
              <a:path w="635068" h="585453">
                <a:moveTo>
                  <a:pt x="0" y="0"/>
                </a:moveTo>
                <a:lnTo>
                  <a:pt x="635068" y="0"/>
                </a:lnTo>
                <a:lnTo>
                  <a:pt x="635068" y="585453"/>
                </a:lnTo>
                <a:lnTo>
                  <a:pt x="0" y="5854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 rot="2599173">
            <a:off x="8656053" y="2185706"/>
            <a:ext cx="969701" cy="893943"/>
          </a:xfrm>
          <a:custGeom>
            <a:avLst/>
            <a:gdLst/>
            <a:ahLst/>
            <a:cxnLst/>
            <a:rect l="l" t="t" r="r" b="b"/>
            <a:pathLst>
              <a:path w="969701" h="893943">
                <a:moveTo>
                  <a:pt x="0" y="0"/>
                </a:moveTo>
                <a:lnTo>
                  <a:pt x="969701" y="0"/>
                </a:lnTo>
                <a:lnTo>
                  <a:pt x="969701" y="893943"/>
                </a:lnTo>
                <a:lnTo>
                  <a:pt x="0" y="8939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7" name="Group 17"/>
          <p:cNvGrpSpPr/>
          <p:nvPr/>
        </p:nvGrpSpPr>
        <p:grpSpPr>
          <a:xfrm>
            <a:off x="10114017" y="1243132"/>
            <a:ext cx="6261850" cy="8015168"/>
            <a:chOff x="0" y="0"/>
            <a:chExt cx="6350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" cy="812800"/>
            </a:xfrm>
            <a:custGeom>
              <a:avLst/>
              <a:gdLst/>
              <a:ahLst/>
              <a:cxnLst/>
              <a:rect l="l" t="t" r="r" b="b"/>
              <a:pathLst>
                <a:path w="635000" h="812800">
                  <a:moveTo>
                    <a:pt x="635000" y="0"/>
                  </a:moveTo>
                  <a:lnTo>
                    <a:pt x="635000" y="698500"/>
                  </a:lnTo>
                  <a:lnTo>
                    <a:pt x="317500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635000" y="0"/>
                  </a:lnTo>
                  <a:close/>
                </a:path>
              </a:pathLst>
            </a:custGeom>
            <a:blipFill>
              <a:blip r:embed="rId6"/>
              <a:stretch>
                <a:fillRect l="-43459" r="-31085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597986" y="3584522"/>
            <a:ext cx="7198472" cy="4776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8619" lvl="1" indent="-269310" algn="l">
              <a:lnSpc>
                <a:spcPts val="3492"/>
              </a:lnSpc>
              <a:buAutoNum type="arabicPeriod"/>
            </a:pPr>
            <a:r>
              <a:rPr lang="en-US" sz="249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Crear materiales educativos digitales que simplifiquen los procesos escolares.</a:t>
            </a:r>
          </a:p>
          <a:p>
            <a:pPr marL="538619" lvl="1" indent="-269310" algn="l">
              <a:lnSpc>
                <a:spcPts val="3492"/>
              </a:lnSpc>
              <a:buAutoNum type="arabicPeriod"/>
            </a:pPr>
            <a:r>
              <a:rPr lang="en-US" sz="249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Desarrollar contenido visual atractivo que incremente el interés estudiantil.</a:t>
            </a:r>
          </a:p>
          <a:p>
            <a:pPr marL="538619" lvl="1" indent="-269310" algn="l">
              <a:lnSpc>
                <a:spcPts val="3492"/>
              </a:lnSpc>
              <a:buAutoNum type="arabicPeriod"/>
            </a:pPr>
            <a:r>
              <a:rPr lang="en-US" sz="249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Promover el aprendizaje autónomo mediante tutoriales interactivos.</a:t>
            </a:r>
          </a:p>
          <a:p>
            <a:pPr marL="538619" lvl="1" indent="-269310" algn="l">
              <a:lnSpc>
                <a:spcPts val="3492"/>
              </a:lnSpc>
              <a:buAutoNum type="arabicPeriod"/>
            </a:pPr>
            <a:r>
              <a:rPr lang="en-US" sz="249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Aumentar la accesibilidad a la información académica mediante tecnología móvil.</a:t>
            </a:r>
          </a:p>
          <a:p>
            <a:pPr marL="538619" lvl="1" indent="-269310" algn="l">
              <a:lnSpc>
                <a:spcPts val="3492"/>
              </a:lnSpc>
              <a:buAutoNum type="arabicPeriod"/>
            </a:pPr>
            <a:r>
              <a:rPr lang="en-US" sz="249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Fortalecer la presencia institucional a través de soluciones visuales coherentes.</a:t>
            </a:r>
          </a:p>
          <a:p>
            <a:pPr algn="l">
              <a:lnSpc>
                <a:spcPts val="3492"/>
              </a:lnSpc>
            </a:pPr>
            <a:endParaRPr lang="en-US" sz="2494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48350" y="721476"/>
            <a:ext cx="2138034" cy="213803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28650" cap="sq">
              <a:gradFill>
                <a:gsLst>
                  <a:gs pos="0">
                    <a:srgbClr val="C3ED56">
                      <a:alpha val="100000"/>
                    </a:srgbClr>
                  </a:gs>
                  <a:gs pos="100000">
                    <a:srgbClr val="E48321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1208142" y="-864936"/>
            <a:ext cx="10281391" cy="12844173"/>
            <a:chOff x="0" y="0"/>
            <a:chExt cx="2707856" cy="338282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07856" cy="3382827"/>
            </a:xfrm>
            <a:custGeom>
              <a:avLst/>
              <a:gdLst/>
              <a:ahLst/>
              <a:cxnLst/>
              <a:rect l="l" t="t" r="r" b="b"/>
              <a:pathLst>
                <a:path w="2707856" h="3382827">
                  <a:moveTo>
                    <a:pt x="38403" y="0"/>
                  </a:moveTo>
                  <a:lnTo>
                    <a:pt x="2669453" y="0"/>
                  </a:lnTo>
                  <a:cubicBezTo>
                    <a:pt x="2679638" y="0"/>
                    <a:pt x="2689406" y="4046"/>
                    <a:pt x="2696608" y="11248"/>
                  </a:cubicBezTo>
                  <a:cubicBezTo>
                    <a:pt x="2703810" y="18450"/>
                    <a:pt x="2707856" y="28218"/>
                    <a:pt x="2707856" y="38403"/>
                  </a:cubicBezTo>
                  <a:lnTo>
                    <a:pt x="2707856" y="3344424"/>
                  </a:lnTo>
                  <a:cubicBezTo>
                    <a:pt x="2707856" y="3354609"/>
                    <a:pt x="2703810" y="3364377"/>
                    <a:pt x="2696608" y="3371579"/>
                  </a:cubicBezTo>
                  <a:cubicBezTo>
                    <a:pt x="2689406" y="3378781"/>
                    <a:pt x="2679638" y="3382827"/>
                    <a:pt x="2669453" y="3382827"/>
                  </a:cubicBezTo>
                  <a:lnTo>
                    <a:pt x="38403" y="3382827"/>
                  </a:lnTo>
                  <a:cubicBezTo>
                    <a:pt x="28218" y="3382827"/>
                    <a:pt x="18450" y="3378781"/>
                    <a:pt x="11248" y="3371579"/>
                  </a:cubicBezTo>
                  <a:cubicBezTo>
                    <a:pt x="4046" y="3364377"/>
                    <a:pt x="0" y="3354609"/>
                    <a:pt x="0" y="3344424"/>
                  </a:cubicBezTo>
                  <a:lnTo>
                    <a:pt x="0" y="38403"/>
                  </a:lnTo>
                  <a:cubicBezTo>
                    <a:pt x="0" y="28218"/>
                    <a:pt x="4046" y="18450"/>
                    <a:pt x="11248" y="11248"/>
                  </a:cubicBezTo>
                  <a:cubicBezTo>
                    <a:pt x="18450" y="4046"/>
                    <a:pt x="28218" y="0"/>
                    <a:pt x="38403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707856" cy="3420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086669" y="6262692"/>
            <a:ext cx="1673561" cy="1673561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3ED56">
                    <a:alpha val="100000"/>
                  </a:srgbClr>
                </a:gs>
                <a:gs pos="100000">
                  <a:srgbClr val="E4832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7020776" y="528088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2" name="Group 12"/>
          <p:cNvGrpSpPr/>
          <p:nvPr/>
        </p:nvGrpSpPr>
        <p:grpSpPr>
          <a:xfrm>
            <a:off x="0" y="9828123"/>
            <a:ext cx="18288000" cy="12844173"/>
            <a:chOff x="0" y="0"/>
            <a:chExt cx="4816593" cy="338282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816592" cy="3382827"/>
            </a:xfrm>
            <a:custGeom>
              <a:avLst/>
              <a:gdLst/>
              <a:ahLst/>
              <a:cxnLst/>
              <a:rect l="l" t="t" r="r" b="b"/>
              <a:pathLst>
                <a:path w="4816592" h="3382827">
                  <a:moveTo>
                    <a:pt x="21590" y="0"/>
                  </a:moveTo>
                  <a:lnTo>
                    <a:pt x="4795002" y="0"/>
                  </a:lnTo>
                  <a:cubicBezTo>
                    <a:pt x="4800728" y="0"/>
                    <a:pt x="4806220" y="2275"/>
                    <a:pt x="4810269" y="6324"/>
                  </a:cubicBezTo>
                  <a:cubicBezTo>
                    <a:pt x="4814318" y="10372"/>
                    <a:pt x="4816592" y="15864"/>
                    <a:pt x="4816592" y="21590"/>
                  </a:cubicBezTo>
                  <a:lnTo>
                    <a:pt x="4816592" y="3361237"/>
                  </a:lnTo>
                  <a:cubicBezTo>
                    <a:pt x="4816592" y="3366963"/>
                    <a:pt x="4814318" y="3372455"/>
                    <a:pt x="4810269" y="3376504"/>
                  </a:cubicBezTo>
                  <a:cubicBezTo>
                    <a:pt x="4806220" y="3380553"/>
                    <a:pt x="4800728" y="3382827"/>
                    <a:pt x="4795002" y="3382827"/>
                  </a:cubicBezTo>
                  <a:lnTo>
                    <a:pt x="21590" y="3382827"/>
                  </a:lnTo>
                  <a:cubicBezTo>
                    <a:pt x="9666" y="3382827"/>
                    <a:pt x="0" y="3373161"/>
                    <a:pt x="0" y="3361237"/>
                  </a:cubicBezTo>
                  <a:lnTo>
                    <a:pt x="0" y="21590"/>
                  </a:lnTo>
                  <a:cubicBezTo>
                    <a:pt x="0" y="9666"/>
                    <a:pt x="9666" y="0"/>
                    <a:pt x="2159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4816593" cy="3420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366080" y="9171889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 rot="2599173">
            <a:off x="912132" y="662547"/>
            <a:ext cx="565249" cy="521089"/>
          </a:xfrm>
          <a:custGeom>
            <a:avLst/>
            <a:gdLst/>
            <a:ahLst/>
            <a:cxnLst/>
            <a:rect l="l" t="t" r="r" b="b"/>
            <a:pathLst>
              <a:path w="565249" h="521089">
                <a:moveTo>
                  <a:pt x="0" y="0"/>
                </a:moveTo>
                <a:lnTo>
                  <a:pt x="565249" y="0"/>
                </a:lnTo>
                <a:lnTo>
                  <a:pt x="565249" y="521089"/>
                </a:lnTo>
                <a:lnTo>
                  <a:pt x="0" y="52108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 rot="2599173">
            <a:off x="424886" y="6042191"/>
            <a:ext cx="326694" cy="301171"/>
          </a:xfrm>
          <a:custGeom>
            <a:avLst/>
            <a:gdLst/>
            <a:ahLst/>
            <a:cxnLst/>
            <a:rect l="l" t="t" r="r" b="b"/>
            <a:pathLst>
              <a:path w="326694" h="301171">
                <a:moveTo>
                  <a:pt x="0" y="0"/>
                </a:moveTo>
                <a:lnTo>
                  <a:pt x="326693" y="0"/>
                </a:lnTo>
                <a:lnTo>
                  <a:pt x="326693" y="301171"/>
                </a:lnTo>
                <a:lnTo>
                  <a:pt x="0" y="30117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>
            <a:off x="10349123" y="-660257"/>
            <a:ext cx="11988492" cy="10035027"/>
          </a:xfrm>
          <a:custGeom>
            <a:avLst/>
            <a:gdLst/>
            <a:ahLst/>
            <a:cxnLst/>
            <a:rect l="l" t="t" r="r" b="b"/>
            <a:pathLst>
              <a:path w="11988492" h="10035027">
                <a:moveTo>
                  <a:pt x="0" y="0"/>
                </a:moveTo>
                <a:lnTo>
                  <a:pt x="11988492" y="0"/>
                </a:lnTo>
                <a:lnTo>
                  <a:pt x="11988492" y="10035028"/>
                </a:lnTo>
                <a:lnTo>
                  <a:pt x="0" y="1003502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25558"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9" name="Group 19"/>
          <p:cNvGrpSpPr/>
          <p:nvPr/>
        </p:nvGrpSpPr>
        <p:grpSpPr>
          <a:xfrm>
            <a:off x="1194756" y="2519381"/>
            <a:ext cx="9503753" cy="5416872"/>
            <a:chOff x="0" y="0"/>
            <a:chExt cx="12671671" cy="7222496"/>
          </a:xfrm>
        </p:grpSpPr>
        <p:grpSp>
          <p:nvGrpSpPr>
            <p:cNvPr id="20" name="Group 20"/>
            <p:cNvGrpSpPr/>
            <p:nvPr/>
          </p:nvGrpSpPr>
          <p:grpSpPr>
            <a:xfrm>
              <a:off x="572366" y="1914235"/>
              <a:ext cx="12099304" cy="5308260"/>
              <a:chOff x="0" y="0"/>
              <a:chExt cx="2139986" cy="938864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2139986" cy="938864"/>
              </a:xfrm>
              <a:custGeom>
                <a:avLst/>
                <a:gdLst/>
                <a:ahLst/>
                <a:cxnLst/>
                <a:rect l="l" t="t" r="r" b="b"/>
                <a:pathLst>
                  <a:path w="2139986" h="938864">
                    <a:moveTo>
                      <a:pt x="20962" y="0"/>
                    </a:moveTo>
                    <a:lnTo>
                      <a:pt x="2119024" y="0"/>
                    </a:lnTo>
                    <a:cubicBezTo>
                      <a:pt x="2130601" y="0"/>
                      <a:pt x="2139986" y="9385"/>
                      <a:pt x="2139986" y="20962"/>
                    </a:cubicBezTo>
                    <a:lnTo>
                      <a:pt x="2139986" y="917902"/>
                    </a:lnTo>
                    <a:cubicBezTo>
                      <a:pt x="2139986" y="923462"/>
                      <a:pt x="2137777" y="928793"/>
                      <a:pt x="2133846" y="932724"/>
                    </a:cubicBezTo>
                    <a:cubicBezTo>
                      <a:pt x="2129915" y="936656"/>
                      <a:pt x="2124583" y="938864"/>
                      <a:pt x="2119024" y="938864"/>
                    </a:cubicBezTo>
                    <a:lnTo>
                      <a:pt x="20962" y="938864"/>
                    </a:lnTo>
                    <a:cubicBezTo>
                      <a:pt x="9385" y="938864"/>
                      <a:pt x="0" y="929479"/>
                      <a:pt x="0" y="917902"/>
                    </a:cubicBezTo>
                    <a:lnTo>
                      <a:pt x="0" y="20962"/>
                    </a:lnTo>
                    <a:cubicBezTo>
                      <a:pt x="0" y="15403"/>
                      <a:pt x="2208" y="10071"/>
                      <a:pt x="6140" y="6140"/>
                    </a:cubicBezTo>
                    <a:cubicBezTo>
                      <a:pt x="10071" y="2208"/>
                      <a:pt x="15403" y="0"/>
                      <a:pt x="20962" y="0"/>
                    </a:cubicBezTo>
                    <a:close/>
                  </a:path>
                </a:pathLst>
              </a:custGeom>
              <a:solidFill>
                <a:srgbClr val="F1F1F1"/>
              </a:solidFill>
            </p:spPr>
            <p:txBody>
              <a:bodyPr/>
              <a:lstStyle/>
              <a:p>
                <a:endParaRPr lang="es-MX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38100"/>
                <a:ext cx="2139986" cy="97696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0" y="-123825"/>
              <a:ext cx="12671671" cy="31280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9599"/>
                </a:lnSpc>
              </a:pPr>
              <a:r>
                <a:rPr lang="en-US" sz="6856" b="1" spc="-479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Logo (descripción visual)</a:t>
              </a:r>
            </a:p>
            <a:p>
              <a:pPr algn="l">
                <a:lnSpc>
                  <a:spcPts val="9599"/>
                </a:lnSpc>
              </a:pPr>
              <a:endParaRPr lang="en-US" sz="6856" b="1" spc="-479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99833" y="2408040"/>
              <a:ext cx="11381651" cy="41526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85761" lvl="1" indent="-242881" algn="l">
                <a:lnSpc>
                  <a:spcPts val="3149"/>
                </a:lnSpc>
                <a:buFont typeface="Arial"/>
                <a:buChar char="•"/>
              </a:pPr>
              <a:r>
                <a:rPr lang="en-US" sz="2249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El logo representa la letra π (pi) como símbolo de conocimiento y lógica.</a:t>
              </a:r>
            </a:p>
            <a:p>
              <a:pPr marL="485761" lvl="1" indent="-242881" algn="l">
                <a:lnSpc>
                  <a:spcPts val="3149"/>
                </a:lnSpc>
                <a:buFont typeface="Arial"/>
                <a:buChar char="•"/>
              </a:pPr>
              <a:r>
                <a:rPr lang="en-US" sz="2249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Se combina con un diseño moderno y juvenil, donde la “@” al final representa la conexión digital y tecnológica.</a:t>
              </a:r>
            </a:p>
            <a:p>
              <a:pPr marL="485761" lvl="1" indent="-242881" algn="l">
                <a:lnSpc>
                  <a:spcPts val="3149"/>
                </a:lnSpc>
                <a:buFont typeface="Arial"/>
                <a:buChar char="•"/>
              </a:pPr>
              <a:r>
                <a:rPr lang="en-US" sz="2249">
                  <a:solidFill>
                    <a:srgbClr val="000000"/>
                  </a:solidFill>
                  <a:latin typeface="Open Sauce"/>
                  <a:ea typeface="Open Sauce"/>
                  <a:cs typeface="Open Sauce"/>
                  <a:sym typeface="Open Sauce"/>
                </a:rPr>
                <a:t>Colores institucionales: Verde esmeralda y dorado, que simbolizan crecimiento, innovación y éxito académico en la UAEM</a:t>
              </a:r>
            </a:p>
            <a:p>
              <a:pPr algn="l">
                <a:lnSpc>
                  <a:spcPts val="3149"/>
                </a:lnSpc>
              </a:pPr>
              <a:endParaRPr lang="en-US" sz="2249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endParaRP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9139238" y="4962842"/>
            <a:ext cx="9525" cy="323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10800635" y="8176851"/>
            <a:ext cx="7498516" cy="8338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</a:pPr>
            <a:r>
              <a:rPr lang="en-US" sz="2431" b="1" dirty="0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“</a:t>
            </a:r>
            <a:r>
              <a:rPr lang="en-US" sz="2431" b="1" dirty="0" err="1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Aprender</a:t>
            </a:r>
            <a:r>
              <a:rPr lang="en-US" sz="2431" b="1" dirty="0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es </a:t>
            </a:r>
            <a:r>
              <a:rPr lang="en-US" sz="2431" b="1" dirty="0" err="1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más</a:t>
            </a:r>
            <a:r>
              <a:rPr lang="en-US" sz="2431" b="1" dirty="0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π</a:t>
            </a:r>
            <a:r>
              <a:rPr lang="en-US" sz="2431" b="1" dirty="0" err="1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chul</a:t>
            </a:r>
            <a:r>
              <a:rPr lang="en-US" sz="2431" b="1" dirty="0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@ </a:t>
            </a:r>
            <a:r>
              <a:rPr lang="en-US" sz="2431" b="1" dirty="0" err="1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cuando</a:t>
            </a:r>
            <a:r>
              <a:rPr lang="en-US" sz="2431" b="1" dirty="0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es </a:t>
            </a:r>
            <a:r>
              <a:rPr lang="en-US" sz="2431" b="1" dirty="0" err="1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fácil</a:t>
            </a:r>
            <a:r>
              <a:rPr lang="en-US" sz="2431" b="1" dirty="0">
                <a:solidFill>
                  <a:srgbClr val="43624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.”</a:t>
            </a:r>
          </a:p>
          <a:p>
            <a:pPr algn="ctr">
              <a:lnSpc>
                <a:spcPts val="3264"/>
              </a:lnSpc>
            </a:pPr>
            <a:endParaRPr lang="en-US" sz="2431" b="1" dirty="0">
              <a:solidFill>
                <a:srgbClr val="436242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401687"/>
            <a:ext cx="18288000" cy="11083773"/>
            <a:chOff x="0" y="0"/>
            <a:chExt cx="4816593" cy="29191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2919183"/>
            </a:xfrm>
            <a:custGeom>
              <a:avLst/>
              <a:gdLst/>
              <a:ahLst/>
              <a:cxnLst/>
              <a:rect l="l" t="t" r="r" b="b"/>
              <a:pathLst>
                <a:path w="4816592" h="2919183">
                  <a:moveTo>
                    <a:pt x="21590" y="0"/>
                  </a:moveTo>
                  <a:lnTo>
                    <a:pt x="4795002" y="0"/>
                  </a:lnTo>
                  <a:cubicBezTo>
                    <a:pt x="4800728" y="0"/>
                    <a:pt x="4806220" y="2275"/>
                    <a:pt x="4810269" y="6324"/>
                  </a:cubicBezTo>
                  <a:cubicBezTo>
                    <a:pt x="4814318" y="10372"/>
                    <a:pt x="4816592" y="15864"/>
                    <a:pt x="4816592" y="21590"/>
                  </a:cubicBezTo>
                  <a:lnTo>
                    <a:pt x="4816592" y="2897593"/>
                  </a:lnTo>
                  <a:cubicBezTo>
                    <a:pt x="4816592" y="2909517"/>
                    <a:pt x="4806926" y="2919183"/>
                    <a:pt x="4795002" y="2919183"/>
                  </a:cubicBezTo>
                  <a:lnTo>
                    <a:pt x="21590" y="2919183"/>
                  </a:lnTo>
                  <a:cubicBezTo>
                    <a:pt x="15864" y="2919183"/>
                    <a:pt x="10372" y="2916908"/>
                    <a:pt x="6324" y="2912859"/>
                  </a:cubicBezTo>
                  <a:cubicBezTo>
                    <a:pt x="2275" y="2908811"/>
                    <a:pt x="0" y="2903319"/>
                    <a:pt x="0" y="2897593"/>
                  </a:cubicBezTo>
                  <a:lnTo>
                    <a:pt x="0" y="21590"/>
                  </a:lnTo>
                  <a:cubicBezTo>
                    <a:pt x="0" y="9666"/>
                    <a:pt x="9666" y="0"/>
                    <a:pt x="2159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29572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-3465690" y="6298891"/>
            <a:ext cx="9529995" cy="9529995"/>
          </a:xfrm>
          <a:custGeom>
            <a:avLst/>
            <a:gdLst/>
            <a:ahLst/>
            <a:cxnLst/>
            <a:rect l="l" t="t" r="r" b="b"/>
            <a:pathLst>
              <a:path w="9529995" h="9529995">
                <a:moveTo>
                  <a:pt x="0" y="0"/>
                </a:moveTo>
                <a:lnTo>
                  <a:pt x="9529996" y="0"/>
                </a:lnTo>
                <a:lnTo>
                  <a:pt x="9529996" y="9529996"/>
                </a:lnTo>
                <a:lnTo>
                  <a:pt x="0" y="95299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6" name="Freeform 6"/>
          <p:cNvSpPr/>
          <p:nvPr/>
        </p:nvSpPr>
        <p:spPr>
          <a:xfrm>
            <a:off x="6094119" y="-7263081"/>
            <a:ext cx="9529995" cy="9529995"/>
          </a:xfrm>
          <a:custGeom>
            <a:avLst/>
            <a:gdLst/>
            <a:ahLst/>
            <a:cxnLst/>
            <a:rect l="l" t="t" r="r" b="b"/>
            <a:pathLst>
              <a:path w="9529995" h="9529995">
                <a:moveTo>
                  <a:pt x="0" y="0"/>
                </a:moveTo>
                <a:lnTo>
                  <a:pt x="9529996" y="0"/>
                </a:lnTo>
                <a:lnTo>
                  <a:pt x="9529996" y="9529995"/>
                </a:lnTo>
                <a:lnTo>
                  <a:pt x="0" y="95299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7" name="Group 7"/>
          <p:cNvGrpSpPr/>
          <p:nvPr/>
        </p:nvGrpSpPr>
        <p:grpSpPr>
          <a:xfrm>
            <a:off x="1530433" y="4800073"/>
            <a:ext cx="10483357" cy="5080041"/>
            <a:chOff x="0" y="0"/>
            <a:chExt cx="2761049" cy="1337953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61049" cy="1337953"/>
            </a:xfrm>
            <a:custGeom>
              <a:avLst/>
              <a:gdLst/>
              <a:ahLst/>
              <a:cxnLst/>
              <a:rect l="l" t="t" r="r" b="b"/>
              <a:pathLst>
                <a:path w="2761049" h="1337953">
                  <a:moveTo>
                    <a:pt x="16247" y="0"/>
                  </a:moveTo>
                  <a:lnTo>
                    <a:pt x="2744802" y="0"/>
                  </a:lnTo>
                  <a:cubicBezTo>
                    <a:pt x="2749111" y="0"/>
                    <a:pt x="2753243" y="1712"/>
                    <a:pt x="2756290" y="4759"/>
                  </a:cubicBezTo>
                  <a:cubicBezTo>
                    <a:pt x="2759337" y="7806"/>
                    <a:pt x="2761049" y="11938"/>
                    <a:pt x="2761049" y="16247"/>
                  </a:cubicBezTo>
                  <a:lnTo>
                    <a:pt x="2761049" y="1321706"/>
                  </a:lnTo>
                  <a:cubicBezTo>
                    <a:pt x="2761049" y="1330679"/>
                    <a:pt x="2753775" y="1337953"/>
                    <a:pt x="2744802" y="1337953"/>
                  </a:cubicBezTo>
                  <a:lnTo>
                    <a:pt x="16247" y="1337953"/>
                  </a:lnTo>
                  <a:cubicBezTo>
                    <a:pt x="11938" y="1337953"/>
                    <a:pt x="7806" y="1336241"/>
                    <a:pt x="4759" y="1333195"/>
                  </a:cubicBezTo>
                  <a:cubicBezTo>
                    <a:pt x="1712" y="1330148"/>
                    <a:pt x="0" y="1326015"/>
                    <a:pt x="0" y="1321706"/>
                  </a:cubicBezTo>
                  <a:lnTo>
                    <a:pt x="0" y="16247"/>
                  </a:lnTo>
                  <a:cubicBezTo>
                    <a:pt x="0" y="11938"/>
                    <a:pt x="1712" y="7806"/>
                    <a:pt x="4759" y="4759"/>
                  </a:cubicBezTo>
                  <a:cubicBezTo>
                    <a:pt x="7806" y="1712"/>
                    <a:pt x="11938" y="0"/>
                    <a:pt x="16247" y="0"/>
                  </a:cubicBezTo>
                  <a:close/>
                </a:path>
              </a:pathLst>
            </a:custGeom>
            <a:solidFill>
              <a:srgbClr val="996C9C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761049" cy="13760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168480" y="2748171"/>
            <a:ext cx="3151190" cy="315119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28650" cap="sq">
              <a:gradFill>
                <a:gsLst>
                  <a:gs pos="0">
                    <a:srgbClr val="C3ED56">
                      <a:alpha val="100000"/>
                    </a:srgbClr>
                  </a:gs>
                  <a:gs pos="100000">
                    <a:srgbClr val="E48321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49873" y="7395262"/>
            <a:ext cx="1692546" cy="1692546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3ED56">
                    <a:alpha val="100000"/>
                  </a:srgbClr>
                </a:gs>
                <a:gs pos="100000">
                  <a:srgbClr val="E4832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6949873" y="1497656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Freeform 17"/>
          <p:cNvSpPr/>
          <p:nvPr/>
        </p:nvSpPr>
        <p:spPr>
          <a:xfrm>
            <a:off x="-738166" y="2899246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7"/>
                </a:lnTo>
                <a:lnTo>
                  <a:pt x="0" y="9695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8" name="Freeform 18"/>
          <p:cNvSpPr/>
          <p:nvPr/>
        </p:nvSpPr>
        <p:spPr>
          <a:xfrm rot="2599173">
            <a:off x="16091348" y="3099095"/>
            <a:ext cx="727562" cy="670721"/>
          </a:xfrm>
          <a:custGeom>
            <a:avLst/>
            <a:gdLst/>
            <a:ahLst/>
            <a:cxnLst/>
            <a:rect l="l" t="t" r="r" b="b"/>
            <a:pathLst>
              <a:path w="727562" h="670721">
                <a:moveTo>
                  <a:pt x="0" y="0"/>
                </a:moveTo>
                <a:lnTo>
                  <a:pt x="727562" y="0"/>
                </a:lnTo>
                <a:lnTo>
                  <a:pt x="727562" y="670721"/>
                </a:lnTo>
                <a:lnTo>
                  <a:pt x="0" y="6707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9" name="Freeform 19"/>
          <p:cNvSpPr/>
          <p:nvPr/>
        </p:nvSpPr>
        <p:spPr>
          <a:xfrm rot="2599173">
            <a:off x="11608639" y="5260438"/>
            <a:ext cx="474441" cy="437375"/>
          </a:xfrm>
          <a:custGeom>
            <a:avLst/>
            <a:gdLst/>
            <a:ahLst/>
            <a:cxnLst/>
            <a:rect l="l" t="t" r="r" b="b"/>
            <a:pathLst>
              <a:path w="474441" h="437375">
                <a:moveTo>
                  <a:pt x="0" y="0"/>
                </a:moveTo>
                <a:lnTo>
                  <a:pt x="474441" y="0"/>
                </a:lnTo>
                <a:lnTo>
                  <a:pt x="474441" y="437375"/>
                </a:lnTo>
                <a:lnTo>
                  <a:pt x="0" y="4373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0" name="Freeform 20"/>
          <p:cNvSpPr/>
          <p:nvPr/>
        </p:nvSpPr>
        <p:spPr>
          <a:xfrm>
            <a:off x="11229306" y="220767"/>
            <a:ext cx="6272908" cy="9873012"/>
          </a:xfrm>
          <a:custGeom>
            <a:avLst/>
            <a:gdLst/>
            <a:ahLst/>
            <a:cxnLst/>
            <a:rect l="l" t="t" r="r" b="b"/>
            <a:pathLst>
              <a:path w="6272908" h="9873012">
                <a:moveTo>
                  <a:pt x="0" y="0"/>
                </a:moveTo>
                <a:lnTo>
                  <a:pt x="6272908" y="0"/>
                </a:lnTo>
                <a:lnTo>
                  <a:pt x="6272908" y="9873012"/>
                </a:lnTo>
                <a:lnTo>
                  <a:pt x="0" y="987301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1" name="TextBox 21"/>
          <p:cNvSpPr txBox="1"/>
          <p:nvPr/>
        </p:nvSpPr>
        <p:spPr>
          <a:xfrm>
            <a:off x="1597986" y="2076352"/>
            <a:ext cx="7168451" cy="1792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93"/>
              </a:lnSpc>
            </a:pPr>
            <a:r>
              <a:rPr lang="en-US" sz="10566" b="1" spc="-739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912756" y="2076414"/>
            <a:ext cx="5918911" cy="1792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796"/>
              </a:lnSpc>
            </a:pPr>
            <a:r>
              <a:rPr lang="en-US" sz="10568" b="1" spc="-739">
                <a:solidFill>
                  <a:srgbClr val="EB9338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oria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17497" y="5119173"/>
            <a:ext cx="10028362" cy="444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54"/>
              </a:lnSpc>
            </a:pPr>
            <a:r>
              <a:rPr lang="en-US" sz="232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πCHUL@S ENTERPRISE nació en 2025 como una iniciativa universitaria de un grupo de jóvenes apasionados por la tecnología y la educación.</a:t>
            </a:r>
          </a:p>
          <a:p>
            <a:pPr algn="l">
              <a:lnSpc>
                <a:spcPts val="3254"/>
              </a:lnSpc>
            </a:pPr>
            <a:r>
              <a:rPr lang="en-US" sz="232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El proyecto comenzó con la creación de manuales y videos tutoriales para apoyar a estudiantes en el uso de plataformas institucionales.</a:t>
            </a:r>
          </a:p>
          <a:p>
            <a:pPr algn="l">
              <a:lnSpc>
                <a:spcPts val="3254"/>
              </a:lnSpc>
            </a:pPr>
            <a:r>
              <a:rPr lang="en-US" sz="232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El éxito y la demanda de materiales llevó a los fundadores a formalizar la empresa, orientándola a la producción de contenidos educativos innovadores que faciliten el aprendizaje digital dentro de instituciones académicas.</a:t>
            </a:r>
          </a:p>
          <a:p>
            <a:pPr algn="l">
              <a:lnSpc>
                <a:spcPts val="3254"/>
              </a:lnSpc>
            </a:pPr>
            <a:endParaRPr lang="en-US" sz="2324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457712" y="-1307820"/>
            <a:ext cx="5051305" cy="12844173"/>
            <a:chOff x="0" y="0"/>
            <a:chExt cx="1330385" cy="338282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30385" cy="3382827"/>
            </a:xfrm>
            <a:custGeom>
              <a:avLst/>
              <a:gdLst/>
              <a:ahLst/>
              <a:cxnLst/>
              <a:rect l="l" t="t" r="r" b="b"/>
              <a:pathLst>
                <a:path w="1330385" h="3382827">
                  <a:moveTo>
                    <a:pt x="78166" y="0"/>
                  </a:moveTo>
                  <a:lnTo>
                    <a:pt x="1252219" y="0"/>
                  </a:lnTo>
                  <a:cubicBezTo>
                    <a:pt x="1272950" y="0"/>
                    <a:pt x="1292832" y="8235"/>
                    <a:pt x="1307491" y="22894"/>
                  </a:cubicBezTo>
                  <a:cubicBezTo>
                    <a:pt x="1322150" y="37553"/>
                    <a:pt x="1330385" y="57435"/>
                    <a:pt x="1330385" y="78166"/>
                  </a:cubicBezTo>
                  <a:lnTo>
                    <a:pt x="1330385" y="3304662"/>
                  </a:lnTo>
                  <a:cubicBezTo>
                    <a:pt x="1330385" y="3325392"/>
                    <a:pt x="1322150" y="3345274"/>
                    <a:pt x="1307491" y="3359933"/>
                  </a:cubicBezTo>
                  <a:cubicBezTo>
                    <a:pt x="1292832" y="3374592"/>
                    <a:pt x="1272950" y="3382827"/>
                    <a:pt x="1252219" y="3382827"/>
                  </a:cubicBezTo>
                  <a:lnTo>
                    <a:pt x="78166" y="3382827"/>
                  </a:lnTo>
                  <a:cubicBezTo>
                    <a:pt x="57435" y="3382827"/>
                    <a:pt x="37553" y="3374592"/>
                    <a:pt x="22894" y="3359933"/>
                  </a:cubicBezTo>
                  <a:cubicBezTo>
                    <a:pt x="8235" y="3345274"/>
                    <a:pt x="0" y="3325392"/>
                    <a:pt x="0" y="3304662"/>
                  </a:cubicBezTo>
                  <a:lnTo>
                    <a:pt x="0" y="78166"/>
                  </a:lnTo>
                  <a:cubicBezTo>
                    <a:pt x="0" y="57435"/>
                    <a:pt x="8235" y="37553"/>
                    <a:pt x="22894" y="22894"/>
                  </a:cubicBezTo>
                  <a:cubicBezTo>
                    <a:pt x="37553" y="8235"/>
                    <a:pt x="57435" y="0"/>
                    <a:pt x="78166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3ED56">
                    <a:alpha val="100000"/>
                  </a:srgbClr>
                </a:gs>
                <a:gs pos="100000">
                  <a:srgbClr val="E4832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30385" cy="3420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803348" y="842233"/>
            <a:ext cx="1673561" cy="1673561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9295498" y="1263178"/>
            <a:ext cx="7396725" cy="3880322"/>
            <a:chOff x="0" y="0"/>
            <a:chExt cx="6350000" cy="33312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350000" cy="3331210"/>
            </a:xfrm>
            <a:custGeom>
              <a:avLst/>
              <a:gdLst/>
              <a:ahLst/>
              <a:cxnLst/>
              <a:rect l="l" t="t" r="r" b="b"/>
              <a:pathLst>
                <a:path w="6350000" h="3331210">
                  <a:moveTo>
                    <a:pt x="6209030" y="0"/>
                  </a:moveTo>
                  <a:lnTo>
                    <a:pt x="140970" y="0"/>
                  </a:lnTo>
                  <a:cubicBezTo>
                    <a:pt x="63500" y="0"/>
                    <a:pt x="0" y="62230"/>
                    <a:pt x="0" y="138430"/>
                  </a:cubicBezTo>
                  <a:lnTo>
                    <a:pt x="0" y="3192780"/>
                  </a:lnTo>
                  <a:cubicBezTo>
                    <a:pt x="0" y="3268980"/>
                    <a:pt x="63500" y="3331210"/>
                    <a:pt x="140970" y="3331210"/>
                  </a:cubicBezTo>
                  <a:lnTo>
                    <a:pt x="6209030" y="3331210"/>
                  </a:lnTo>
                  <a:cubicBezTo>
                    <a:pt x="6286500" y="3331210"/>
                    <a:pt x="6350000" y="3268980"/>
                    <a:pt x="6350000" y="3192780"/>
                  </a:cubicBezTo>
                  <a:lnTo>
                    <a:pt x="6350000" y="138430"/>
                  </a:lnTo>
                  <a:cubicBezTo>
                    <a:pt x="6350000" y="62230"/>
                    <a:pt x="6286500" y="0"/>
                    <a:pt x="6209030" y="0"/>
                  </a:cubicBezTo>
                  <a:close/>
                </a:path>
              </a:pathLst>
            </a:custGeom>
            <a:blipFill>
              <a:blip r:embed="rId2"/>
              <a:stretch>
                <a:fillRect t="-13500" b="-13500"/>
              </a:stretch>
            </a:blipFill>
          </p:spPr>
          <p:txBody>
            <a:bodyPr/>
            <a:lstStyle/>
            <a:p>
              <a:endParaRPr lang="es-MX"/>
            </a:p>
          </p:txBody>
        </p:sp>
      </p:grpSp>
      <p:sp>
        <p:nvSpPr>
          <p:cNvPr id="10" name="Freeform 10"/>
          <p:cNvSpPr/>
          <p:nvPr/>
        </p:nvSpPr>
        <p:spPr>
          <a:xfrm>
            <a:off x="9637420" y="6614934"/>
            <a:ext cx="636473" cy="636473"/>
          </a:xfrm>
          <a:custGeom>
            <a:avLst/>
            <a:gdLst/>
            <a:ahLst/>
            <a:cxnLst/>
            <a:rect l="l" t="t" r="r" b="b"/>
            <a:pathLst>
              <a:path w="636473" h="636473">
                <a:moveTo>
                  <a:pt x="0" y="0"/>
                </a:moveTo>
                <a:lnTo>
                  <a:pt x="636473" y="0"/>
                </a:lnTo>
                <a:lnTo>
                  <a:pt x="636473" y="636473"/>
                </a:lnTo>
                <a:lnTo>
                  <a:pt x="0" y="6364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>
            <a:off x="9653516" y="7434981"/>
            <a:ext cx="604282" cy="604282"/>
          </a:xfrm>
          <a:custGeom>
            <a:avLst/>
            <a:gdLst/>
            <a:ahLst/>
            <a:cxnLst/>
            <a:rect l="l" t="t" r="r" b="b"/>
            <a:pathLst>
              <a:path w="604282" h="604282">
                <a:moveTo>
                  <a:pt x="0" y="0"/>
                </a:moveTo>
                <a:lnTo>
                  <a:pt x="604281" y="0"/>
                </a:lnTo>
                <a:lnTo>
                  <a:pt x="604281" y="604281"/>
                </a:lnTo>
                <a:lnTo>
                  <a:pt x="0" y="60428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2" name="TextBox 12"/>
          <p:cNvSpPr txBox="1"/>
          <p:nvPr/>
        </p:nvSpPr>
        <p:spPr>
          <a:xfrm>
            <a:off x="1673734" y="1129828"/>
            <a:ext cx="7546014" cy="2538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45"/>
              </a:lnSpc>
            </a:pPr>
            <a:r>
              <a:rPr lang="en-US" sz="7318" b="1" spc="-512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Código de Ética</a:t>
            </a:r>
          </a:p>
          <a:p>
            <a:pPr algn="l">
              <a:lnSpc>
                <a:spcPts val="10245"/>
              </a:lnSpc>
            </a:pPr>
            <a:endParaRPr lang="en-US" sz="7318" b="1" spc="-512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126924" y="3126964"/>
            <a:ext cx="8310471" cy="67931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2237" lvl="1" indent="-281119" algn="l">
              <a:lnSpc>
                <a:spcPts val="3645"/>
              </a:lnSpc>
              <a:buAutoNum type="arabicPeriod"/>
            </a:pPr>
            <a:r>
              <a:rPr lang="en-US" sz="26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Compromiso educativo: Todos los materiales producidos deberán fomentar el aprendizaje y la inclusión digital.</a:t>
            </a:r>
          </a:p>
          <a:p>
            <a:pPr marL="562237" lvl="1" indent="-281119" algn="l">
              <a:lnSpc>
                <a:spcPts val="3645"/>
              </a:lnSpc>
              <a:buAutoNum type="arabicPeriod"/>
            </a:pPr>
            <a:r>
              <a:rPr lang="en-US" sz="26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Transparencia: La información será verificada y aprobada antes de su publicación.</a:t>
            </a:r>
          </a:p>
          <a:p>
            <a:pPr marL="562237" lvl="1" indent="-281119" algn="l">
              <a:lnSpc>
                <a:spcPts val="3645"/>
              </a:lnSpc>
              <a:buAutoNum type="arabicPeriod"/>
            </a:pPr>
            <a:r>
              <a:rPr lang="en-US" sz="26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Respeto institucional: Uso adecuado de la identidad visual y de las plataformas de cada institución colaboradora.</a:t>
            </a:r>
          </a:p>
          <a:p>
            <a:pPr marL="562237" lvl="1" indent="-281119" algn="l">
              <a:lnSpc>
                <a:spcPts val="3645"/>
              </a:lnSpc>
              <a:buAutoNum type="arabicPeriod"/>
            </a:pPr>
            <a:r>
              <a:rPr lang="en-US" sz="26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Responsabilidad social: Promover la educación tecnológica en comunidades con menos recursos.</a:t>
            </a:r>
          </a:p>
          <a:p>
            <a:pPr marL="562237" lvl="1" indent="-281119" algn="l">
              <a:lnSpc>
                <a:spcPts val="3645"/>
              </a:lnSpc>
              <a:buAutoNum type="arabicPeriod"/>
            </a:pPr>
            <a:r>
              <a:rPr lang="en-US" sz="26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Innovación constante: Buscar siempre mejorar los procesos de enseñanza-aprendizaje mediante nuevas herramientas digitales.</a:t>
            </a:r>
          </a:p>
          <a:p>
            <a:pPr algn="l">
              <a:lnSpc>
                <a:spcPts val="3645"/>
              </a:lnSpc>
            </a:pPr>
            <a:endParaRPr lang="en-US" sz="2604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4" name="Freeform 14"/>
          <p:cNvSpPr/>
          <p:nvPr/>
        </p:nvSpPr>
        <p:spPr>
          <a:xfrm>
            <a:off x="-168881" y="1679013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7" y="0"/>
                </a:lnTo>
                <a:lnTo>
                  <a:pt x="1766867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5" name="Freeform 15"/>
          <p:cNvSpPr/>
          <p:nvPr/>
        </p:nvSpPr>
        <p:spPr>
          <a:xfrm>
            <a:off x="15690846" y="9035021"/>
            <a:ext cx="1568454" cy="860689"/>
          </a:xfrm>
          <a:custGeom>
            <a:avLst/>
            <a:gdLst/>
            <a:ahLst/>
            <a:cxnLst/>
            <a:rect l="l" t="t" r="r" b="b"/>
            <a:pathLst>
              <a:path w="1568454" h="860689">
                <a:moveTo>
                  <a:pt x="0" y="0"/>
                </a:moveTo>
                <a:lnTo>
                  <a:pt x="1568454" y="0"/>
                </a:lnTo>
                <a:lnTo>
                  <a:pt x="1568454" y="860689"/>
                </a:lnTo>
                <a:lnTo>
                  <a:pt x="0" y="86068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6" name="Group 16"/>
          <p:cNvGrpSpPr/>
          <p:nvPr/>
        </p:nvGrpSpPr>
        <p:grpSpPr>
          <a:xfrm>
            <a:off x="-1303593" y="8797527"/>
            <a:ext cx="3122391" cy="3122391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3ED56">
                    <a:alpha val="100000"/>
                  </a:srgbClr>
                </a:gs>
                <a:gs pos="100000">
                  <a:srgbClr val="E48321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5947453" y="4125674"/>
            <a:ext cx="1977186" cy="1977186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28650" cap="sq">
              <a:gradFill>
                <a:gsLst>
                  <a:gs pos="0">
                    <a:srgbClr val="DC75FA">
                      <a:alpha val="100000"/>
                    </a:srgbClr>
                  </a:gs>
                  <a:gs pos="100000">
                    <a:srgbClr val="EFBF1A">
                      <a:alpha val="10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 rot="2599173">
            <a:off x="15948778" y="8540487"/>
            <a:ext cx="630036" cy="580815"/>
          </a:xfrm>
          <a:custGeom>
            <a:avLst/>
            <a:gdLst/>
            <a:ahLst/>
            <a:cxnLst/>
            <a:rect l="l" t="t" r="r" b="b"/>
            <a:pathLst>
              <a:path w="630036" h="580815">
                <a:moveTo>
                  <a:pt x="0" y="0"/>
                </a:moveTo>
                <a:lnTo>
                  <a:pt x="630036" y="0"/>
                </a:lnTo>
                <a:lnTo>
                  <a:pt x="630036" y="580814"/>
                </a:lnTo>
                <a:lnTo>
                  <a:pt x="0" y="5808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23" name="Freeform 23"/>
          <p:cNvSpPr/>
          <p:nvPr/>
        </p:nvSpPr>
        <p:spPr>
          <a:xfrm rot="2599173">
            <a:off x="6329393" y="2613196"/>
            <a:ext cx="517978" cy="477511"/>
          </a:xfrm>
          <a:custGeom>
            <a:avLst/>
            <a:gdLst/>
            <a:ahLst/>
            <a:cxnLst/>
            <a:rect l="l" t="t" r="r" b="b"/>
            <a:pathLst>
              <a:path w="517978" h="477511">
                <a:moveTo>
                  <a:pt x="0" y="0"/>
                </a:moveTo>
                <a:lnTo>
                  <a:pt x="517978" y="0"/>
                </a:lnTo>
                <a:lnTo>
                  <a:pt x="517978" y="477511"/>
                </a:lnTo>
                <a:lnTo>
                  <a:pt x="0" y="47751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165166" y="2653301"/>
            <a:ext cx="2395329" cy="2395329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628650" cap="sq">
              <a:solidFill>
                <a:srgbClr val="996C9C"/>
              </a:solidFill>
              <a:prstDash val="solid"/>
              <a:miter/>
            </a:ln>
          </p:spPr>
          <p:txBody>
            <a:bodyPr/>
            <a:lstStyle/>
            <a:p>
              <a:endParaRPr lang="es-MX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4174940"/>
            <a:ext cx="18288000" cy="7352739"/>
            <a:chOff x="0" y="0"/>
            <a:chExt cx="4816593" cy="193652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1936524"/>
            </a:xfrm>
            <a:custGeom>
              <a:avLst/>
              <a:gdLst/>
              <a:ahLst/>
              <a:cxnLst/>
              <a:rect l="l" t="t" r="r" b="b"/>
              <a:pathLst>
                <a:path w="4816592" h="1936524">
                  <a:moveTo>
                    <a:pt x="21590" y="0"/>
                  </a:moveTo>
                  <a:lnTo>
                    <a:pt x="4795002" y="0"/>
                  </a:lnTo>
                  <a:cubicBezTo>
                    <a:pt x="4800728" y="0"/>
                    <a:pt x="4806220" y="2275"/>
                    <a:pt x="4810269" y="6324"/>
                  </a:cubicBezTo>
                  <a:cubicBezTo>
                    <a:pt x="4814318" y="10372"/>
                    <a:pt x="4816592" y="15864"/>
                    <a:pt x="4816592" y="21590"/>
                  </a:cubicBezTo>
                  <a:lnTo>
                    <a:pt x="4816592" y="1914934"/>
                  </a:lnTo>
                  <a:cubicBezTo>
                    <a:pt x="4816592" y="1926858"/>
                    <a:pt x="4806926" y="1936524"/>
                    <a:pt x="4795002" y="1936524"/>
                  </a:cubicBezTo>
                  <a:lnTo>
                    <a:pt x="21590" y="1936524"/>
                  </a:lnTo>
                  <a:cubicBezTo>
                    <a:pt x="15864" y="1936524"/>
                    <a:pt x="10372" y="1934249"/>
                    <a:pt x="6324" y="1930200"/>
                  </a:cubicBezTo>
                  <a:cubicBezTo>
                    <a:pt x="2275" y="1926151"/>
                    <a:pt x="0" y="1920660"/>
                    <a:pt x="0" y="1914934"/>
                  </a:cubicBezTo>
                  <a:lnTo>
                    <a:pt x="0" y="21590"/>
                  </a:lnTo>
                  <a:cubicBezTo>
                    <a:pt x="0" y="9666"/>
                    <a:pt x="9666" y="0"/>
                    <a:pt x="2159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DC75FA">
                    <a:alpha val="100000"/>
                  </a:srgbClr>
                </a:gs>
                <a:gs pos="100000">
                  <a:srgbClr val="EFBF1A">
                    <a:alpha val="10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</p:spPr>
          <p:txBody>
            <a:bodyPr/>
            <a:lstStyle/>
            <a:p>
              <a:endParaRPr lang="es-MX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19746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-4764998" y="5511876"/>
            <a:ext cx="9529995" cy="9529995"/>
          </a:xfrm>
          <a:custGeom>
            <a:avLst/>
            <a:gdLst/>
            <a:ahLst/>
            <a:cxnLst/>
            <a:rect l="l" t="t" r="r" b="b"/>
            <a:pathLst>
              <a:path w="9529995" h="9529995">
                <a:moveTo>
                  <a:pt x="0" y="0"/>
                </a:moveTo>
                <a:lnTo>
                  <a:pt x="9529996" y="0"/>
                </a:lnTo>
                <a:lnTo>
                  <a:pt x="9529996" y="9529996"/>
                </a:lnTo>
                <a:lnTo>
                  <a:pt x="0" y="95299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9" name="Freeform 9"/>
          <p:cNvSpPr/>
          <p:nvPr/>
        </p:nvSpPr>
        <p:spPr>
          <a:xfrm>
            <a:off x="6094119" y="-7263081"/>
            <a:ext cx="9529995" cy="9529995"/>
          </a:xfrm>
          <a:custGeom>
            <a:avLst/>
            <a:gdLst/>
            <a:ahLst/>
            <a:cxnLst/>
            <a:rect l="l" t="t" r="r" b="b"/>
            <a:pathLst>
              <a:path w="9529995" h="9529995">
                <a:moveTo>
                  <a:pt x="0" y="0"/>
                </a:moveTo>
                <a:lnTo>
                  <a:pt x="9529996" y="0"/>
                </a:lnTo>
                <a:lnTo>
                  <a:pt x="9529996" y="9529995"/>
                </a:lnTo>
                <a:lnTo>
                  <a:pt x="0" y="95299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6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0" name="Freeform 10"/>
          <p:cNvSpPr/>
          <p:nvPr/>
        </p:nvSpPr>
        <p:spPr>
          <a:xfrm>
            <a:off x="0" y="543916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1" name="Freeform 11"/>
          <p:cNvSpPr/>
          <p:nvPr/>
        </p:nvSpPr>
        <p:spPr>
          <a:xfrm>
            <a:off x="16974297" y="4353921"/>
            <a:ext cx="1766866" cy="969568"/>
          </a:xfrm>
          <a:custGeom>
            <a:avLst/>
            <a:gdLst/>
            <a:ahLst/>
            <a:cxnLst/>
            <a:rect l="l" t="t" r="r" b="b"/>
            <a:pathLst>
              <a:path w="1766866" h="969568">
                <a:moveTo>
                  <a:pt x="0" y="0"/>
                </a:moveTo>
                <a:lnTo>
                  <a:pt x="1766866" y="0"/>
                </a:lnTo>
                <a:lnTo>
                  <a:pt x="1766866" y="969568"/>
                </a:lnTo>
                <a:lnTo>
                  <a:pt x="0" y="9695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grpSp>
        <p:nvGrpSpPr>
          <p:cNvPr id="12" name="Group 12"/>
          <p:cNvGrpSpPr/>
          <p:nvPr/>
        </p:nvGrpSpPr>
        <p:grpSpPr>
          <a:xfrm>
            <a:off x="16128024" y="8110547"/>
            <a:ext cx="1692546" cy="1692546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96C9C"/>
            </a:solidFill>
          </p:spPr>
          <p:txBody>
            <a:bodyPr/>
            <a:lstStyle/>
            <a:p>
              <a:endParaRPr lang="es-MX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 rot="2599173">
            <a:off x="15766333" y="3529757"/>
            <a:ext cx="723382" cy="666868"/>
          </a:xfrm>
          <a:custGeom>
            <a:avLst/>
            <a:gdLst/>
            <a:ahLst/>
            <a:cxnLst/>
            <a:rect l="l" t="t" r="r" b="b"/>
            <a:pathLst>
              <a:path w="723382" h="666868">
                <a:moveTo>
                  <a:pt x="0" y="0"/>
                </a:moveTo>
                <a:lnTo>
                  <a:pt x="723382" y="0"/>
                </a:lnTo>
                <a:lnTo>
                  <a:pt x="723382" y="666868"/>
                </a:lnTo>
                <a:lnTo>
                  <a:pt x="0" y="66686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1484" t="-39236" r="-39297" b="-46019"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6" name="Freeform 16"/>
          <p:cNvSpPr/>
          <p:nvPr/>
        </p:nvSpPr>
        <p:spPr>
          <a:xfrm>
            <a:off x="12362830" y="-592647"/>
            <a:ext cx="6285695" cy="9893137"/>
          </a:xfrm>
          <a:custGeom>
            <a:avLst/>
            <a:gdLst/>
            <a:ahLst/>
            <a:cxnLst/>
            <a:rect l="l" t="t" r="r" b="b"/>
            <a:pathLst>
              <a:path w="6285695" h="9893137">
                <a:moveTo>
                  <a:pt x="0" y="0"/>
                </a:moveTo>
                <a:lnTo>
                  <a:pt x="6285695" y="0"/>
                </a:lnTo>
                <a:lnTo>
                  <a:pt x="6285695" y="9893137"/>
                </a:lnTo>
                <a:lnTo>
                  <a:pt x="0" y="989313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MX"/>
          </a:p>
        </p:txBody>
      </p:sp>
      <p:sp>
        <p:nvSpPr>
          <p:cNvPr id="17" name="TextBox 17"/>
          <p:cNvSpPr txBox="1"/>
          <p:nvPr/>
        </p:nvSpPr>
        <p:spPr>
          <a:xfrm>
            <a:off x="2060938" y="977554"/>
            <a:ext cx="12848204" cy="15808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27"/>
              </a:lnSpc>
            </a:pPr>
            <a:r>
              <a:rPr lang="en-US" sz="9233" b="1" spc="-64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Información adicional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74922" y="4581036"/>
            <a:ext cx="14058723" cy="5000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5136" lvl="1" indent="-282568" algn="l">
              <a:lnSpc>
                <a:spcPts val="3664"/>
              </a:lnSpc>
              <a:buFont typeface="Arial"/>
              <a:buChar char="•"/>
            </a:pPr>
            <a:r>
              <a:rPr lang="en-US" sz="261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Ubicación: Zumpango, Estado de México.</a:t>
            </a:r>
          </a:p>
          <a:p>
            <a:pPr marL="565136" lvl="1" indent="-282568" algn="l">
              <a:lnSpc>
                <a:spcPts val="3664"/>
              </a:lnSpc>
              <a:buFont typeface="Arial"/>
              <a:buChar char="•"/>
            </a:pP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Tipo de empresa: PyME de servicios tecnológicos y educativos.</a:t>
            </a:r>
          </a:p>
          <a:p>
            <a:pPr marL="565136" lvl="1" indent="-282568" algn="l">
              <a:lnSpc>
                <a:spcPts val="3664"/>
              </a:lnSpc>
              <a:buFont typeface="Arial"/>
              <a:buChar char="•"/>
            </a:pP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Fundadores: Luis Alberto Mejía López, María Daniela Islas Hernández, Citli López Campos, Guerrero Estrada David Israel.</a:t>
            </a:r>
          </a:p>
          <a:p>
            <a:pPr marL="565136" lvl="1" indent="-282568" algn="l">
              <a:lnSpc>
                <a:spcPts val="3664"/>
              </a:lnSpc>
              <a:buFont typeface="Arial"/>
              <a:buChar char="•"/>
            </a:pP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Patrocinador académico: Prof. Hazem Álvarez Rodríguez.</a:t>
            </a:r>
          </a:p>
          <a:p>
            <a:pPr marL="565136" lvl="1" indent="-282568" algn="l">
              <a:lnSpc>
                <a:spcPts val="3664"/>
              </a:lnSpc>
              <a:buFont typeface="Arial"/>
              <a:buChar char="•"/>
            </a:pP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Año de fundación: 2025.</a:t>
            </a:r>
          </a:p>
          <a:p>
            <a:pPr marL="565136" lvl="1" indent="-282568" algn="l">
              <a:lnSpc>
                <a:spcPts val="3664"/>
              </a:lnSpc>
              <a:buFont typeface="Arial"/>
              <a:buChar char="•"/>
            </a:pP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Estructura organizativa:</a:t>
            </a:r>
          </a:p>
          <a:p>
            <a:pPr marL="1130272" lvl="2" indent="-376757" algn="l">
              <a:lnSpc>
                <a:spcPts val="3664"/>
              </a:lnSpc>
              <a:buAutoNum type="alphaLcPeriod"/>
            </a:pP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Dirección General: Guerrero Estrada David Israel</a:t>
            </a:r>
          </a:p>
          <a:p>
            <a:pPr marL="1130272" lvl="2" indent="-376757" algn="l">
              <a:lnSpc>
                <a:spcPts val="3664"/>
              </a:lnSpc>
              <a:buAutoNum type="alphaLcPeriod"/>
            </a:pP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Coordinación de Proyectos: Luis Alberto Mejía López </a:t>
            </a:r>
          </a:p>
          <a:p>
            <a:pPr marL="1130272" lvl="2" indent="-376757" algn="l">
              <a:lnSpc>
                <a:spcPts val="3664"/>
              </a:lnSpc>
              <a:buAutoNum type="alphaLcPeriod"/>
            </a:pP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Diseño y Comunicación Visual: Citli López Campos</a:t>
            </a:r>
          </a:p>
          <a:p>
            <a:pPr marL="1130272" lvl="2" indent="-376757" algn="l">
              <a:lnSpc>
                <a:spcPts val="3664"/>
              </a:lnSpc>
              <a:buAutoNum type="alphaLcPeriod"/>
            </a:pPr>
            <a:r>
              <a:rPr lang="en-US" sz="261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Producción Audiovisual: María Daniela Islas Hernández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594</Words>
  <Application>Microsoft Office PowerPoint</Application>
  <PresentationFormat>Personalizado</PresentationFormat>
  <Paragraphs>59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Open Sans Bold</vt:lpstr>
      <vt:lpstr>Calibri</vt:lpstr>
      <vt:lpstr>Open Sauce Bold</vt:lpstr>
      <vt:lpstr>Open Sauce Italics</vt:lpstr>
      <vt:lpstr>Open Sauce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empresa fantasma </dc:title>
  <cp:lastModifiedBy>CITLI LOPEZ CAMPOS</cp:lastModifiedBy>
  <cp:revision>2</cp:revision>
  <dcterms:created xsi:type="dcterms:W3CDTF">2006-08-16T00:00:00Z</dcterms:created>
  <dcterms:modified xsi:type="dcterms:W3CDTF">2025-10-20T02:41:17Z</dcterms:modified>
  <dc:identifier>DAG2MB7rs8Q</dc:identifier>
</cp:coreProperties>
</file>